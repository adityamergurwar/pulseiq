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2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3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4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5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fdedd57cdde49f9" /><Relationship Type="http://schemas.openxmlformats.org/officeDocument/2006/relationships/extended-properties" Target="/docProps/app.xml" Id="Rba7b028ac0084738" /><Relationship Type="http://schemas.openxmlformats.org/officeDocument/2006/relationships/officeDocument" Target="/ppt/presentation.xml" Id="Rb0add55694594b9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b5898e30a344cdc"/>
  </p:sldMasterIdLst>
  <p:notesMasterIdLst>
    <p:notesMasterId xmlns:r="http://schemas.openxmlformats.org/officeDocument/2006/relationships" r:id="Rc2981869e98948b3"/>
  </p:notesMasterIdLst>
  <p:sldIdLst>
    <p:sldId xmlns:r="http://schemas.openxmlformats.org/officeDocument/2006/relationships" id="256" r:id="Rb00979b2ef9c4fb1"/>
    <p:sldId xmlns:r="http://schemas.openxmlformats.org/officeDocument/2006/relationships" id="257" r:id="R0f661e96e2dd46b9"/>
    <p:sldId xmlns:r="http://schemas.openxmlformats.org/officeDocument/2006/relationships" id="258" r:id="R05d5a95e36f64572"/>
    <p:sldId xmlns:r="http://schemas.openxmlformats.org/officeDocument/2006/relationships" id="259" r:id="R786d9b2c24e2471a"/>
    <p:sldId xmlns:r="http://schemas.openxmlformats.org/officeDocument/2006/relationships" id="260" r:id="Rd3a03e0bc5494f24"/>
    <p:sldId xmlns:r="http://schemas.openxmlformats.org/officeDocument/2006/relationships" id="261" r:id="R191dcd5cf63a4afa"/>
    <p:sldId xmlns:r="http://schemas.openxmlformats.org/officeDocument/2006/relationships" id="262" r:id="R95859ade71dc4803"/>
    <p:sldId xmlns:r="http://schemas.openxmlformats.org/officeDocument/2006/relationships" id="263" r:id="R7537e4f2c1694c91"/>
    <p:sldId xmlns:r="http://schemas.openxmlformats.org/officeDocument/2006/relationships" id="264" r:id="Rd4e743246208468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cc34fb2ee7b438a" /><Relationship Type="http://schemas.openxmlformats.org/officeDocument/2006/relationships/slideMaster" Target="/ppt/slideMasters/slideMaster1.xml" Id="R9b5898e30a344cdc" /><Relationship Type="http://schemas.openxmlformats.org/officeDocument/2006/relationships/notesMaster" Target="/ppt/notesMasters/notesMaster1.xml" Id="Rc2981869e98948b3" /><Relationship Type="http://schemas.openxmlformats.org/officeDocument/2006/relationships/presProps" Target="/ppt/presProps.xml" Id="Re9ee8f1f6f8b4f2a" /><Relationship Type="http://schemas.openxmlformats.org/officeDocument/2006/relationships/tableStyles" Target="/ppt/tableStyles.xml" Id="R5e836b078e824d4d" /><Relationship Type="http://schemas.openxmlformats.org/officeDocument/2006/relationships/slide" Target="/ppt/slides/slide1.xml" Id="Rb00979b2ef9c4fb1" /><Relationship Type="http://schemas.openxmlformats.org/officeDocument/2006/relationships/slide" Target="/ppt/slides/slide2.xml" Id="R0f661e96e2dd46b9" /><Relationship Type="http://schemas.openxmlformats.org/officeDocument/2006/relationships/slide" Target="/ppt/slides/slide3.xml" Id="R05d5a95e36f64572" /><Relationship Type="http://schemas.openxmlformats.org/officeDocument/2006/relationships/slide" Target="/ppt/slides/slide4.xml" Id="R786d9b2c24e2471a" /><Relationship Type="http://schemas.openxmlformats.org/officeDocument/2006/relationships/slide" Target="/ppt/slides/slide5.xml" Id="Rd3a03e0bc5494f24" /><Relationship Type="http://schemas.openxmlformats.org/officeDocument/2006/relationships/slide" Target="/ppt/slides/slide6.xml" Id="R191dcd5cf63a4afa" /><Relationship Type="http://schemas.openxmlformats.org/officeDocument/2006/relationships/slide" Target="/ppt/slides/slide7.xml" Id="R95859ade71dc4803" /><Relationship Type="http://schemas.openxmlformats.org/officeDocument/2006/relationships/slide" Target="/ppt/slides/slide8.xml" Id="R7537e4f2c1694c91" /><Relationship Type="http://schemas.openxmlformats.org/officeDocument/2006/relationships/slide" Target="/ppt/slides/slide9.xml" Id="Rd4e743246208468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8d2083333f7461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677dbdf65ad4f9d" /><Relationship Type="http://schemas.openxmlformats.org/officeDocument/2006/relationships/notesMaster" Target="/ppt/notesMasters/notesMaster1.xml" Id="R57b1089b1cba40b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5a896f51a5b4e83" /><Relationship Type="http://schemas.openxmlformats.org/officeDocument/2006/relationships/notesMaster" Target="/ppt/notesMasters/notesMaster1.xml" Id="Rbd1bcbd526ac4ce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09df08c3fd74062" /><Relationship Type="http://schemas.openxmlformats.org/officeDocument/2006/relationships/notesMaster" Target="/ppt/notesMasters/notesMaster1.xml" Id="R38a0d5f1445e4ae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5b46328fb2745e2" /><Relationship Type="http://schemas.openxmlformats.org/officeDocument/2006/relationships/notesMaster" Target="/ppt/notesMasters/notesMaster1.xml" Id="R1f9d2883bde2476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62f29ea993c4e5c" /><Relationship Type="http://schemas.openxmlformats.org/officeDocument/2006/relationships/notesMaster" Target="/ppt/notesMasters/notesMaster1.xml" Id="Re045fe936d9a472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83b573100a64d0a" /><Relationship Type="http://schemas.openxmlformats.org/officeDocument/2006/relationships/notesMaster" Target="/ppt/notesMasters/notesMaster1.xml" Id="Rbda0287751b2450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52c4ea02a3e4e2d" /><Relationship Type="http://schemas.openxmlformats.org/officeDocument/2006/relationships/notesMaster" Target="/ppt/notesMasters/notesMaster1.xml" Id="Re23b7b531f914f6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b5437eaba434f42" /><Relationship Type="http://schemas.openxmlformats.org/officeDocument/2006/relationships/notesMaster" Target="/ppt/notesMasters/notesMaster1.xml" Id="R230fd6269bd34c4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849c23cee24457c" /><Relationship Type="http://schemas.openxmlformats.org/officeDocument/2006/relationships/notesMaster" Target="/ppt/notesMasters/notesMaster1.xml" Id="R02e5d2117da14f5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Board briefing for the supplied fictional PulseIQ training dataset. All reported actuals end in September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metrics.m01_headcount, metrics.m04_attrition_monthly, metrics.m09_payroll_cost, metrics.dashboard_pnl_monthly and metrics.m20_dso. Period: September 2026. Attrition is exits divided by starting headcount.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metrics.dashboard_kpi_targets, September 2026, Attendance rate. Values are percentage points. Department labels are aggregate groups; no employee-level attendance is shown.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metrics.dashboard_budget_actuals for September 2026. Variance = actual cost minus budget; positive values indicate overspend. The chart focuses on the three overspend departments and two nearest underspend comparators.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metrics.dashboard_pnl_monthly and metrics.dashboard_cash_movement. The chart shows the trailing 12 ledger months in INR millions. Cash-in and cash-out are movements in ledger account 1001; no opening bank balance was supplied.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metrics.dashboard_receivables_asof as of 2026-09-30 and metrics.m20_dso. Ageing uses invoice balance. DSO is 48.0 days. The overdue total includes 1-30, 61-90 and 90+ day buckets; no balance appears in 31-60 days.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metrics.dashboard_task_operations, sprint SP-01. Canceled tasks are excluded from completion and velocity. Velocity is not directly comparable across teams with different work mix; task measures require a minimum sample size of five.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audit.dq_results, audit.orphan_results, audit.payroll_ledger_reconciliation_clean, audit.load_summary, metrics.metric_catalog, metrics.dashboard_forecast and metrics.m28_forecast_error. This slide distinguishes raw source findings from clean-layer validation.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Recommendations are grounded in September 2026 dashboard outputs and are for leadership review. No causal claim is made from these descriptive measures.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20228192a76422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01ba51f092e45b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10ab6942c114f2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2b948d4d6ce443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f0a406a08c94ad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bc2cf99291a4f0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527E4FA-6E20-44C2-A542-2E1D946C2E8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F05D6E3C-A6EF-4E2B-9F55-BA5FEAAF96D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9D1F7D34-B3EE-4EF5-A363-26FAC89822E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34A8FCE-DD0A-443F-AA49-71535F66DB3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60C09788-CCA0-4E31-970E-B29DD2659D1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5C10D4C-2B4A-4429-9C77-4BD7504939C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889CFEB-7424-4192-AFAC-ACA149F6EE6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ED959750-EA5E-403A-B505-3FF1AD04E64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198BA36-D21A-4531-9E96-7209892BC01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7E631E2-1E56-4BAF-9614-3D877A719C3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ba596eb8cbb4b0a" /><Relationship Type="http://schemas.openxmlformats.org/officeDocument/2006/relationships/slideLayout" Target="/ppt/slideLayouts/slideLayout1.xml" Id="R4319b20aa5874351" /><Relationship Type="http://schemas.openxmlformats.org/officeDocument/2006/relationships/slideLayout" Target="/ppt/slideLayouts/slideLayout2.xml" Id="R3d3249ca4f834d4f" /><Relationship Type="http://schemas.openxmlformats.org/officeDocument/2006/relationships/slideLayout" Target="/ppt/slideLayouts/slideLayout3.xml" Id="R12d110f8655b4f37" /><Relationship Type="http://schemas.openxmlformats.org/officeDocument/2006/relationships/slideLayout" Target="/ppt/slideLayouts/slideLayout4.xml" Id="R103799c406c54fd1" /><Relationship Type="http://schemas.openxmlformats.org/officeDocument/2006/relationships/slideLayout" Target="/ppt/slideLayouts/slideLayout5.xml" Id="Rd71d862a58b64c15" /><Relationship Type="http://schemas.openxmlformats.org/officeDocument/2006/relationships/slideLayout" Target="/ppt/slideLayouts/slideLayout6.xml" Id="R21957771664c402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319b20aa5874351"/>
    <p:sldLayoutId xmlns:r="http://schemas.openxmlformats.org/officeDocument/2006/relationships" id="2147483650" r:id="R3d3249ca4f834d4f"/>
    <p:sldLayoutId xmlns:r="http://schemas.openxmlformats.org/officeDocument/2006/relationships" id="2147483651" r:id="R12d110f8655b4f37"/>
    <p:sldLayoutId xmlns:r="http://schemas.openxmlformats.org/officeDocument/2006/relationships" id="2147483652" r:id="R103799c406c54fd1"/>
    <p:sldLayoutId xmlns:r="http://schemas.openxmlformats.org/officeDocument/2006/relationships" id="2147483653" r:id="Rd71d862a58b64c15"/>
    <p:sldLayoutId xmlns:r="http://schemas.openxmlformats.org/officeDocument/2006/relationships" id="2147483654" r:id="R21957771664c402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830028457bf4e58" /><Relationship Type="http://schemas.openxmlformats.org/officeDocument/2006/relationships/notesSlide" Target="/ppt/notesSlides/notesSlide1.xml" Id="R236afc1a633847b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ff4a51981884175" /><Relationship Type="http://schemas.openxmlformats.org/officeDocument/2006/relationships/notesSlide" Target="/ppt/notesSlides/notesSlide2.xml" Id="R4348089701524b5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00a984a8c1143c0" /><Relationship Type="http://schemas.openxmlformats.org/officeDocument/2006/relationships/chart" Target="/ppt/slides/charts/chart1.xml" Id="R47b2c9a007934ff7" /><Relationship Type="http://schemas.openxmlformats.org/officeDocument/2006/relationships/notesSlide" Target="/ppt/notesSlides/notesSlide3.xml" Id="R656425649d1d419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5625e6f9bbe441b" /><Relationship Type="http://schemas.openxmlformats.org/officeDocument/2006/relationships/chart" Target="/ppt/slides/charts/chart2.xml" Id="Rd2a2fad5f1e3469d" /><Relationship Type="http://schemas.openxmlformats.org/officeDocument/2006/relationships/notesSlide" Target="/ppt/notesSlides/notesSlide4.xml" Id="R4e6b488b409b41d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92288e114164f4e" /><Relationship Type="http://schemas.openxmlformats.org/officeDocument/2006/relationships/chart" Target="/ppt/slides/charts/chart3.xml" Id="R9fa620fc620b48aa" /><Relationship Type="http://schemas.openxmlformats.org/officeDocument/2006/relationships/notesSlide" Target="/ppt/notesSlides/notesSlide5.xml" Id="Ra530ecaf1a0b446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dfd9419465c4be2" /><Relationship Type="http://schemas.openxmlformats.org/officeDocument/2006/relationships/chart" Target="/ppt/slides/charts/chart4.xml" Id="Rc40acbee15434fe6" /><Relationship Type="http://schemas.openxmlformats.org/officeDocument/2006/relationships/notesSlide" Target="/ppt/notesSlides/notesSlide6.xml" Id="Rf216c3e367814b4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ef225282e2c43c5" /><Relationship Type="http://schemas.openxmlformats.org/officeDocument/2006/relationships/chart" Target="/ppt/slides/charts/chart5.xml" Id="R781ad5f435fa4126" /><Relationship Type="http://schemas.openxmlformats.org/officeDocument/2006/relationships/notesSlide" Target="/ppt/notesSlides/notesSlide7.xml" Id="R5a301f37872848b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145e421d47f4936" /><Relationship Type="http://schemas.openxmlformats.org/officeDocument/2006/relationships/notesSlide" Target="/ppt/notesSlides/notesSlide8.xml" Id="R9f67bc53795847c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fe180fdf9404966" /><Relationship Type="http://schemas.openxmlformats.org/officeDocument/2006/relationships/notesSlide" Target="/ppt/notesSlides/notesSlide9.xml" Id="Rb8e7582f47f24b7c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_rels/chart5.xml.rels><Relationships xmlns="http://schemas.openxmlformats.org/package/2006/relationships"><Relationship Id="rIdChartSnapshot1" Type="http://schemas.openxmlformats.org/officeDocument/2006/relationships/package" Target="../../embeddings/chart-data-snapshot-005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425" b="1">
                <a:solidFill>
                  <a:srgbClr val="14213D"/>
                </a:solidFill>
                <a:latin typeface="Arial"/>
                <a:ea typeface="Arial"/>
                <a:cs typeface="Arial"/>
              </a:rPr>
              <a:t>Attendance rate by department, actual versus 94% target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425" b="1">
              <a:solidFill>
                <a:srgbClr val="14213D"/>
              </a:solidFill>
              <a:latin typeface="Arial"/>
              <a:ea typeface="Arial"/>
              <a:cs typeface="Arial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Actual</c:v>
          </c:tx>
          <c:spPr>
            <a:solidFill xmlns:a="http://schemas.openxmlformats.org/drawingml/2006/main">
              <a:srgbClr val="117C78"/>
            </a:solidFill>
          </c:spPr>
          <c:invertIfNegative val="0"/>
          <c:cat>
            <c:strRef>
              <c:f>'Chart Data'!$A$2:$A$11</c:f>
              <c:strCache>
                <c:ptCount val="10"/>
                <c:pt idx="0">
                  <c:v>D01</c:v>
                </c:pt>
                <c:pt idx="1">
                  <c:v>D02</c:v>
                </c:pt>
                <c:pt idx="2">
                  <c:v>D03</c:v>
                </c:pt>
                <c:pt idx="3">
                  <c:v>D04</c:v>
                </c:pt>
                <c:pt idx="4">
                  <c:v>D05</c:v>
                </c:pt>
                <c:pt idx="5">
                  <c:v>D06</c:v>
                </c:pt>
                <c:pt idx="6">
                  <c:v>D07</c:v>
                </c:pt>
                <c:pt idx="7">
                  <c:v>D08</c:v>
                </c:pt>
                <c:pt idx="8">
                  <c:v>D09</c:v>
                </c:pt>
                <c:pt idx="9">
                  <c:v>D10</c:v>
                </c:pt>
              </c:strCache>
            </c:strRef>
          </c:cat>
          <c:val>
            <c:numRef>
              <c:f>'Chart Data'!$B$2:$B$11</c:f>
              <c:numCache>
                <c:formatCode>0.0</c:formatCode>
                <c:ptCount val="10"/>
                <c:pt idx="0">
                  <c:v>96.2</c:v>
                </c:pt>
                <c:pt idx="1">
                  <c:v>95.3</c:v>
                </c:pt>
                <c:pt idx="2">
                  <c:v>94.4</c:v>
                </c:pt>
                <c:pt idx="3">
                  <c:v>97.5</c:v>
                </c:pt>
                <c:pt idx="4">
                  <c:v>96.2</c:v>
                </c:pt>
                <c:pt idx="5">
                  <c:v>92.4</c:v>
                </c:pt>
                <c:pt idx="6">
                  <c:v>95.8</c:v>
                </c:pt>
                <c:pt idx="7">
                  <c:v>88.9</c:v>
                </c:pt>
                <c:pt idx="8">
                  <c:v>95.9</c:v>
                </c:pt>
                <c:pt idx="9">
                  <c:v>93.3</c:v>
                </c:pt>
              </c:numCache>
            </c:numRef>
          </c:val>
        </c:ser>
        <c:ser>
          <c:idx val="1"/>
          <c:order val="1"/>
          <c:tx>
            <c:v>Target</c:v>
          </c:tx>
          <c:spPr>
            <a:solidFill xmlns:a="http://schemas.openxmlformats.org/drawingml/2006/main">
              <a:srgbClr val="CBD5E1"/>
            </a:solidFill>
          </c:spPr>
          <c:invertIfNegative val="0"/>
          <c:cat>
            <c:strRef>
              <c:f>'Chart Data'!$C$2:$C$11</c:f>
              <c:strCache>
                <c:ptCount val="10"/>
                <c:pt idx="0">
                  <c:v>D01</c:v>
                </c:pt>
                <c:pt idx="1">
                  <c:v>D02</c:v>
                </c:pt>
                <c:pt idx="2">
                  <c:v>D03</c:v>
                </c:pt>
                <c:pt idx="3">
                  <c:v>D04</c:v>
                </c:pt>
                <c:pt idx="4">
                  <c:v>D05</c:v>
                </c:pt>
                <c:pt idx="5">
                  <c:v>D06</c:v>
                </c:pt>
                <c:pt idx="6">
                  <c:v>D07</c:v>
                </c:pt>
                <c:pt idx="7">
                  <c:v>D08</c:v>
                </c:pt>
                <c:pt idx="8">
                  <c:v>D09</c:v>
                </c:pt>
                <c:pt idx="9">
                  <c:v>D10</c:v>
                </c:pt>
              </c:strCache>
            </c:strRef>
          </c:cat>
          <c:val>
            <c:numRef>
              <c:f>'Chart Data'!$D$2:$D$11</c:f>
              <c:numCache>
                <c:formatCode>0.0</c:formatCode>
                <c:ptCount val="10"/>
                <c:pt idx="0">
                  <c:v>94</c:v>
                </c:pt>
                <c:pt idx="1">
                  <c:v>94</c:v>
                </c:pt>
                <c:pt idx="2">
                  <c:v>94</c:v>
                </c:pt>
                <c:pt idx="3">
                  <c:v>94</c:v>
                </c:pt>
                <c:pt idx="4">
                  <c:v>94</c:v>
                </c:pt>
                <c:pt idx="5">
                  <c:v>94</c:v>
                </c:pt>
                <c:pt idx="6">
                  <c:v>94</c:v>
                </c:pt>
                <c:pt idx="7">
                  <c:v>94</c:v>
                </c:pt>
                <c:pt idx="8">
                  <c:v>94</c:v>
                </c:pt>
                <c:pt idx="9">
                  <c:v>94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26179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100"/>
          <c:min val="8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5EAF1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125">
                    <a:solidFill>
                      <a:srgbClr val="526179"/>
                    </a:solidFill>
                    <a:latin typeface="Arial"/>
                    <a:ea typeface="Arial"/>
                    <a:cs typeface="Arial"/>
                  </a:rPr>
                  <a:t>Percent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25">
                  <a:solidFill>
                    <a:srgbClr val="526179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26179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5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125">
              <a:solidFill>
                <a:srgbClr val="526179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425" b="1">
                <a:solidFill>
                  <a:srgbClr val="14213D"/>
                </a:solidFill>
                <a:latin typeface="Arial"/>
                <a:ea typeface="Arial"/>
                <a:cs typeface="Arial"/>
              </a:rPr>
              <a:t>September payroll budget and actual by department (INR millions)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425" b="1">
              <a:solidFill>
                <a:srgbClr val="14213D"/>
              </a:solidFill>
              <a:latin typeface="Arial"/>
              <a:ea typeface="Arial"/>
              <a:cs typeface="Arial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Budget</c:v>
          </c:tx>
          <c:spPr>
            <a:solidFill xmlns:a="http://schemas.openxmlformats.org/drawingml/2006/main">
              <a:srgbClr val="CBD5E1"/>
            </a:solidFill>
          </c:spPr>
          <c:invertIfNegative val="0"/>
          <c:cat>
            <c:strRef>
              <c:f>'Chart Data'!$A$2:$A$6</c:f>
              <c:strCache>
                <c:ptCount val="5"/>
                <c:pt idx="0">
                  <c:v>D01</c:v>
                </c:pt>
                <c:pt idx="1">
                  <c:v>D03</c:v>
                </c:pt>
                <c:pt idx="2">
                  <c:v>D07</c:v>
                </c:pt>
                <c:pt idx="3">
                  <c:v>D08</c:v>
                </c:pt>
                <c:pt idx="4">
                  <c:v>D05</c:v>
                </c:pt>
              </c:strCache>
            </c:strRef>
          </c:cat>
          <c:val>
            <c:numRef>
              <c:f>'Chart Data'!$B$2:$B$6</c:f>
              <c:numCache>
                <c:formatCode>0.0</c:formatCode>
                <c:ptCount val="5"/>
                <c:pt idx="0">
                  <c:v>20.787</c:v>
                </c:pt>
                <c:pt idx="1">
                  <c:v>6.394</c:v>
                </c:pt>
                <c:pt idx="2">
                  <c:v>1.632</c:v>
                </c:pt>
                <c:pt idx="3">
                  <c:v>2.429</c:v>
                </c:pt>
                <c:pt idx="4">
                  <c:v>1.416</c:v>
                </c:pt>
              </c:numCache>
            </c:numRef>
          </c:val>
        </c:ser>
        <c:ser>
          <c:idx val="1"/>
          <c:order val="1"/>
          <c:tx>
            <c:v>Actual</c:v>
          </c:tx>
          <c:spPr>
            <a:solidFill xmlns:a="http://schemas.openxmlformats.org/drawingml/2006/main">
              <a:srgbClr val="117C78"/>
            </a:solidFill>
          </c:spPr>
          <c:invertIfNegative val="0"/>
          <c:cat>
            <c:strRef>
              <c:f>'Chart Data'!$C$2:$C$6</c:f>
              <c:strCache>
                <c:ptCount val="5"/>
                <c:pt idx="0">
                  <c:v>D01</c:v>
                </c:pt>
                <c:pt idx="1">
                  <c:v>D03</c:v>
                </c:pt>
                <c:pt idx="2">
                  <c:v>D07</c:v>
                </c:pt>
                <c:pt idx="3">
                  <c:v>D08</c:v>
                </c:pt>
                <c:pt idx="4">
                  <c:v>D05</c:v>
                </c:pt>
              </c:strCache>
            </c:strRef>
          </c:cat>
          <c:val>
            <c:numRef>
              <c:f>'Chart Data'!$D$2:$D$6</c:f>
              <c:numCache>
                <c:formatCode>0.0</c:formatCode>
                <c:ptCount val="5"/>
                <c:pt idx="0">
                  <c:v>21.001</c:v>
                </c:pt>
                <c:pt idx="1">
                  <c:v>6.425</c:v>
                </c:pt>
                <c:pt idx="2">
                  <c:v>1.635</c:v>
                </c:pt>
                <c:pt idx="3">
                  <c:v>2.425</c:v>
                </c:pt>
                <c:pt idx="4">
                  <c:v>1.381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7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26179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5EAF1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125">
                    <a:solidFill>
                      <a:srgbClr val="526179"/>
                    </a:solidFill>
                    <a:latin typeface="Arial"/>
                    <a:ea typeface="Arial"/>
                    <a:cs typeface="Arial"/>
                  </a:rPr>
                  <a:t>INR millions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25">
                  <a:solidFill>
                    <a:srgbClr val="526179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26179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125">
              <a:solidFill>
                <a:srgbClr val="526179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425" b="1">
                <a:solidFill>
                  <a:srgbClr val="14213D"/>
                </a:solidFill>
                <a:latin typeface="Arial"/>
                <a:ea typeface="Arial"/>
                <a:cs typeface="Arial"/>
              </a:rPr>
              <a:t>Revenue and net profit, trailing 12 months (INR millions)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425" b="1">
              <a:solidFill>
                <a:srgbClr val="14213D"/>
              </a:solidFill>
              <a:latin typeface="Arial"/>
              <a:ea typeface="Arial"/>
              <a:cs typeface="Arial"/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Revenue</c:v>
          </c:tx>
          <c:spPr>
            <a:ln xmlns:a="http://schemas.openxmlformats.org/drawingml/2006/main" w="28575">
              <a:solidFill>
                <a:srgbClr val="14213D"/>
              </a:solidFill>
              <a:prstDash val="solid"/>
            </a:ln>
          </c:spPr>
          <c:marker>
            <c:symbol val="circle"/>
            <c:size val="5"/>
          </c:marker>
          <c:cat>
            <c:strRef>
              <c:f>'Chart Data'!$A$2:$A$13</c:f>
              <c:strCache>
                <c:ptCount val="12"/>
                <c:pt idx="0">
                  <c:v>Oct 25</c:v>
                </c:pt>
                <c:pt idx="1">
                  <c:v>Nov 25</c:v>
                </c:pt>
                <c:pt idx="2">
                  <c:v>Dec 25</c:v>
                </c:pt>
                <c:pt idx="3">
                  <c:v>Jan 26</c:v>
                </c:pt>
                <c:pt idx="4">
                  <c:v>Feb 26</c:v>
                </c:pt>
                <c:pt idx="5">
                  <c:v>Mar 26</c:v>
                </c:pt>
                <c:pt idx="6">
                  <c:v>Apr 26</c:v>
                </c:pt>
                <c:pt idx="7">
                  <c:v>May 26</c:v>
                </c:pt>
                <c:pt idx="8">
                  <c:v>Jun 26</c:v>
                </c:pt>
                <c:pt idx="9">
                  <c:v>Jul 26</c:v>
                </c:pt>
                <c:pt idx="10">
                  <c:v>Aug 26</c:v>
                </c:pt>
                <c:pt idx="11">
                  <c:v>Sep 26</c:v>
                </c:pt>
              </c:strCache>
            </c:strRef>
          </c:cat>
          <c:val>
            <c:numRef>
              <c:f>'Chart Data'!$B$2:$B$13</c:f>
              <c:numCache>
                <c:formatCode>0</c:formatCode>
                <c:ptCount val="12"/>
                <c:pt idx="0">
                  <c:v>68.38</c:v>
                </c:pt>
                <c:pt idx="1">
                  <c:v>63.2</c:v>
                </c:pt>
                <c:pt idx="2">
                  <c:v>66.39</c:v>
                </c:pt>
                <c:pt idx="3">
                  <c:v>62.79</c:v>
                </c:pt>
                <c:pt idx="4">
                  <c:v>64.84</c:v>
                </c:pt>
                <c:pt idx="5">
                  <c:v>74.88</c:v>
                </c:pt>
                <c:pt idx="6">
                  <c:v>83.45</c:v>
                </c:pt>
                <c:pt idx="7">
                  <c:v>73.04</c:v>
                </c:pt>
                <c:pt idx="8">
                  <c:v>81.79</c:v>
                </c:pt>
                <c:pt idx="9">
                  <c:v>70.03</c:v>
                </c:pt>
                <c:pt idx="10">
                  <c:v>81.46</c:v>
                </c:pt>
                <c:pt idx="11">
                  <c:v>80.27</c:v>
                </c:pt>
              </c:numCache>
            </c:numRef>
          </c:val>
        </c:ser>
        <c:ser>
          <c:idx val="1"/>
          <c:order val="1"/>
          <c:tx>
            <c:v>Net profit</c:v>
          </c:tx>
          <c:spPr>
            <a:ln xmlns:a="http://schemas.openxmlformats.org/drawingml/2006/main" w="28575">
              <a:solidFill>
                <a:srgbClr val="117C78"/>
              </a:solidFill>
              <a:prstDash val="solid"/>
            </a:ln>
          </c:spPr>
          <c:marker>
            <c:symbol val="circle"/>
            <c:size val="5"/>
          </c:marker>
          <c:cat>
            <c:strRef>
              <c:f>'Chart Data'!$C$2:$C$13</c:f>
              <c:strCache>
                <c:ptCount val="12"/>
                <c:pt idx="0">
                  <c:v>Oct 25</c:v>
                </c:pt>
                <c:pt idx="1">
                  <c:v>Nov 25</c:v>
                </c:pt>
                <c:pt idx="2">
                  <c:v>Dec 25</c:v>
                </c:pt>
                <c:pt idx="3">
                  <c:v>Jan 26</c:v>
                </c:pt>
                <c:pt idx="4">
                  <c:v>Feb 26</c:v>
                </c:pt>
                <c:pt idx="5">
                  <c:v>Mar 26</c:v>
                </c:pt>
                <c:pt idx="6">
                  <c:v>Apr 26</c:v>
                </c:pt>
                <c:pt idx="7">
                  <c:v>May 26</c:v>
                </c:pt>
                <c:pt idx="8">
                  <c:v>Jun 26</c:v>
                </c:pt>
                <c:pt idx="9">
                  <c:v>Jul 26</c:v>
                </c:pt>
                <c:pt idx="10">
                  <c:v>Aug 26</c:v>
                </c:pt>
                <c:pt idx="11">
                  <c:v>Sep 26</c:v>
                </c:pt>
              </c:strCache>
            </c:strRef>
          </c:cat>
          <c:val>
            <c:numRef>
              <c:f>'Chart Data'!$D$2:$D$13</c:f>
              <c:numCache>
                <c:formatCode>0</c:formatCode>
                <c:ptCount val="12"/>
                <c:pt idx="0">
                  <c:v>12.65</c:v>
                </c:pt>
                <c:pt idx="1">
                  <c:v>11.27</c:v>
                </c:pt>
                <c:pt idx="2">
                  <c:v>10.37</c:v>
                </c:pt>
                <c:pt idx="3">
                  <c:v>9.32</c:v>
                </c:pt>
                <c:pt idx="4">
                  <c:v>12.42</c:v>
                </c:pt>
                <c:pt idx="5">
                  <c:v>15.48</c:v>
                </c:pt>
                <c:pt idx="6">
                  <c:v>11.45</c:v>
                </c:pt>
                <c:pt idx="7">
                  <c:v>14.62</c:v>
                </c:pt>
                <c:pt idx="8">
                  <c:v>16.96</c:v>
                </c:pt>
                <c:pt idx="9">
                  <c:v>9.39</c:v>
                </c:pt>
                <c:pt idx="10">
                  <c:v>22.13</c:v>
                </c:pt>
                <c:pt idx="11">
                  <c:v>14.99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26179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5EAF1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125">
                    <a:solidFill>
                      <a:srgbClr val="526179"/>
                    </a:solidFill>
                    <a:latin typeface="Arial"/>
                    <a:ea typeface="Arial"/>
                    <a:cs typeface="Arial"/>
                  </a:rPr>
                  <a:t>INR millions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25">
                  <a:solidFill>
                    <a:srgbClr val="526179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26179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125">
              <a:solidFill>
                <a:srgbClr val="526179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425" b="1">
                <a:solidFill>
                  <a:srgbClr val="14213D"/>
                </a:solidFill>
                <a:latin typeface="Arial"/>
                <a:ea typeface="Arial"/>
                <a:cs typeface="Arial"/>
              </a:rPr>
              <a:t>Open invoice balance by ageing bucket (INR millions)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425" b="1">
              <a:solidFill>
                <a:srgbClr val="14213D"/>
              </a:solidFill>
              <a:latin typeface="Arial"/>
              <a:ea typeface="Arial"/>
              <a:cs typeface="Arial"/>
            </a:defRPr>
          </a:pPr>
        </a:p>
      </c:txPr>
    </c:title>
    <c:plotArea>
      <c:barChart>
        <c:barDir val="bar"/>
        <c:grouping val="clustered"/>
        <c:varyColors val="0"/>
        <c:ser>
          <c:idx val="0"/>
          <c:order val="0"/>
          <c:tx>
            <c:v>Open balance</c:v>
          </c:tx>
          <c:spPr>
            <a:solidFill xmlns:a="http://schemas.openxmlformats.org/drawingml/2006/main">
              <a:srgbClr val="117C78"/>
            </a:solidFill>
          </c:spPr>
          <c:invertIfNegative val="0"/>
          <c:cat>
            <c:strRef>
              <c:f>'Chart Data'!$A$2:$A$5</c:f>
              <c:strCache>
                <c:ptCount val="4"/>
                <c:pt idx="0">
                  <c:v>Not due</c:v>
                </c:pt>
                <c:pt idx="1">
                  <c:v>1-30 days</c:v>
                </c:pt>
                <c:pt idx="2">
                  <c:v>61-90 days</c:v>
                </c:pt>
                <c:pt idx="3">
                  <c:v>90+ days</c:v>
                </c:pt>
              </c:strCache>
            </c:strRef>
          </c:cat>
          <c:val>
            <c:numRef>
              <c:f>'Chart Data'!$B$2:$B$5</c:f>
              <c:numCache>
                <c:formatCode>General</c:formatCode>
                <c:ptCount val="4"/>
                <c:pt idx="0">
                  <c:v>112.28</c:v>
                </c:pt>
                <c:pt idx="1">
                  <c:v>22.13</c:v>
                </c:pt>
                <c:pt idx="2">
                  <c:v>1.94</c:v>
                </c:pt>
                <c:pt idx="3">
                  <c:v>3.04</c:v>
                </c:pt>
              </c:numCache>
            </c:numRef>
          </c:val>
        </c:ser>
        <c:dLbls>
          <c:numFmt formatCode="0.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25">
                  <a:solidFill>
                    <a:srgbClr val="14213D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5EAF1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125">
                    <a:solidFill>
                      <a:srgbClr val="526179"/>
                    </a:solidFill>
                    <a:latin typeface="Arial"/>
                    <a:ea typeface="Arial"/>
                    <a:cs typeface="Arial"/>
                  </a:rPr>
                  <a:t>INR millions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25">
                  <a:solidFill>
                    <a:srgbClr val="526179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26179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26179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5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425" b="1">
                <a:solidFill>
                  <a:srgbClr val="14213D"/>
                </a:solidFill>
                <a:latin typeface="Arial"/>
                <a:ea typeface="Arial"/>
                <a:cs typeface="Arial"/>
              </a:rPr>
              <a:t>Teams with the most overdue tasks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425" b="1">
              <a:solidFill>
                <a:srgbClr val="14213D"/>
              </a:solidFill>
              <a:latin typeface="Arial"/>
              <a:ea typeface="Arial"/>
              <a:cs typeface="Arial"/>
            </a:defRPr>
          </a:pPr>
        </a:p>
      </c:txPr>
    </c:title>
    <c:plotArea>
      <c:barChart>
        <c:barDir val="bar"/>
        <c:grouping val="clustered"/>
        <c:varyColors val="0"/>
        <c:ser>
          <c:idx val="0"/>
          <c:order val="0"/>
          <c:tx>
            <c:v>Overdue tasks</c:v>
          </c:tx>
          <c:spPr>
            <a:solidFill xmlns:a="http://schemas.openxmlformats.org/drawingml/2006/main">
              <a:srgbClr val="D17B0F"/>
            </a:solidFill>
          </c:spPr>
          <c:invertIfNegative val="0"/>
          <c:cat>
            <c:strRef>
              <c:f>'Chart Data'!$A$2:$A$8</c:f>
              <c:strCache>
                <c:ptCount val="7"/>
                <c:pt idx="0">
                  <c:v>Support Tooling</c:v>
                </c:pt>
                <c:pt idx="1">
                  <c:v>Sales Enablement</c:v>
                </c:pt>
                <c:pt idx="2">
                  <c:v>Internal IT</c:v>
                </c:pt>
                <c:pt idx="3">
                  <c:v>DevOps &amp; Reliability</c:v>
                </c:pt>
                <c:pt idx="4">
                  <c:v>Mobile Apps</c:v>
                </c:pt>
                <c:pt idx="5">
                  <c:v>HR Systems</c:v>
                </c:pt>
                <c:pt idx="6">
                  <c:v>Growth Marketing</c:v>
                </c:pt>
              </c:strCache>
            </c:strRef>
          </c:cat>
          <c:val>
            <c:numRef>
              <c:f>'Chart Data'!$B$2:$B$8</c:f>
              <c:numCache>
                <c:formatCode>General</c:formatCode>
                <c:ptCount val="7"/>
                <c:pt idx="0">
                  <c:v>21</c:v>
                </c:pt>
                <c:pt idx="1">
                  <c:v>14</c:v>
                </c:pt>
                <c:pt idx="2">
                  <c:v>12</c:v>
                </c:pt>
                <c:pt idx="3">
                  <c:v>8</c:v>
                </c:pt>
                <c:pt idx="4">
                  <c:v>7</c:v>
                </c:pt>
                <c:pt idx="5">
                  <c:v>7</c:v>
                </c:pt>
                <c:pt idx="6">
                  <c:v>5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25" b="1">
                  <a:solidFill>
                    <a:srgbClr val="14213D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8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5EAF1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125">
                    <a:solidFill>
                      <a:srgbClr val="526179"/>
                    </a:solidFill>
                    <a:latin typeface="Arial"/>
                    <a:ea typeface="Arial"/>
                    <a:cs typeface="Arial"/>
                  </a:rPr>
                  <a:t>Tasks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25">
                  <a:solidFill>
                    <a:srgbClr val="526179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26179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26179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4213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4342535B-1BAD-43F7-9FC6-7F3EA1ABA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085850"/>
            <a:ext cx="742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88D2C9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88D2C9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88D2C9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88D2C9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88D2C9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88D2C9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88D2C9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88D2C9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88D2C9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88D2C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88D2C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8D2C9"/>
                </a:solidFill>
                <a:latin typeface="Arial"/>
                <a:ea typeface="Arial"/>
                <a:cs typeface="Arial"/>
              </a:rPr>
              <a:t>AURA WORKFORCE  /  DATA ANALYTICS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A958C210-5B3D-4CEB-939F-11C93F4C3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90700"/>
            <a:ext cx="7429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5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5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5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5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5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5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5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5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5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5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5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PulseIQ</a:t>
            </a:r>
          </a:p>
        </p:txBody>
      </p:sp>
      <p:sp>
        <p:nvSpPr>
          <p:cNvPr id="3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7EA33D20-5DCE-4F2D-BDB5-D3250A19E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57500"/>
            <a:ext cx="8191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55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25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25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25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25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25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25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25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25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25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55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>
                <a:solidFill>
                  <a:srgbClr val="FFFFFF"/>
                </a:solidFill>
                <a:latin typeface="Arial"/>
                <a:ea typeface="Arial"/>
                <a:cs typeface="Arial"/>
              </a:rPr>
              <a:t>Board briefing | September 2026</a:t>
            </a:r>
          </a:p>
        </p:txBody>
      </p:sp>
      <p:sp>
        <p:nvSpPr>
          <p:cNvPr id="4" name="cover-client">
            <a:extLst xmlns:a="http://schemas.openxmlformats.org/drawingml/2006/main">
              <a:ext uri="{FF2B5EF4-FFF2-40B4-BE49-F238E27FC236}">
                <a16:creationId xmlns:a16="http://schemas.microsoft.com/office/drawing/2014/main" id="{08CEE73A-5F9E-4801-8A0D-DB182BAA3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29050"/>
            <a:ext cx="7239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>
                <a:solidFill>
                  <a:srgbClr val="D8E1EF"/>
                </a:solidFill>
                <a:latin typeface="Arial"/>
                <a:ea typeface="Arial"/>
                <a:cs typeface="Arial"/>
              </a:defRPr>
            </a:defPPr>
            <a:lvl1pPr algn="l">
              <a:defRPr sz="1650">
                <a:solidFill>
                  <a:srgbClr val="D8E1EF"/>
                </a:solidFill>
                <a:latin typeface="Arial"/>
                <a:ea typeface="Arial"/>
                <a:cs typeface="Arial"/>
              </a:defRPr>
            </a:lvl1pPr>
            <a:lvl2pPr algn="l">
              <a:defRPr sz="1650">
                <a:solidFill>
                  <a:srgbClr val="D8E1EF"/>
                </a:solidFill>
                <a:latin typeface="Arial"/>
                <a:ea typeface="Arial"/>
                <a:cs typeface="Arial"/>
              </a:defRPr>
            </a:lvl2pPr>
            <a:lvl3pPr algn="l">
              <a:defRPr sz="1650">
                <a:solidFill>
                  <a:srgbClr val="D8E1EF"/>
                </a:solidFill>
                <a:latin typeface="Arial"/>
                <a:ea typeface="Arial"/>
                <a:cs typeface="Arial"/>
              </a:defRPr>
            </a:lvl3pPr>
            <a:lvl4pPr algn="l">
              <a:defRPr sz="1650">
                <a:solidFill>
                  <a:srgbClr val="D8E1EF"/>
                </a:solidFill>
                <a:latin typeface="Arial"/>
                <a:ea typeface="Arial"/>
                <a:cs typeface="Arial"/>
              </a:defRPr>
            </a:lvl4pPr>
            <a:lvl5pPr algn="l">
              <a:defRPr sz="1650">
                <a:solidFill>
                  <a:srgbClr val="D8E1EF"/>
                </a:solidFill>
                <a:latin typeface="Arial"/>
                <a:ea typeface="Arial"/>
                <a:cs typeface="Arial"/>
              </a:defRPr>
            </a:lvl5pPr>
            <a:lvl6pPr algn="l">
              <a:defRPr sz="1650">
                <a:solidFill>
                  <a:srgbClr val="D8E1EF"/>
                </a:solidFill>
                <a:latin typeface="Arial"/>
                <a:ea typeface="Arial"/>
                <a:cs typeface="Arial"/>
              </a:defRPr>
            </a:lvl6pPr>
            <a:lvl7pPr algn="l">
              <a:defRPr sz="1650">
                <a:solidFill>
                  <a:srgbClr val="D8E1EF"/>
                </a:solidFill>
                <a:latin typeface="Arial"/>
                <a:ea typeface="Arial"/>
                <a:cs typeface="Arial"/>
              </a:defRPr>
            </a:lvl7pPr>
            <a:lvl8pPr algn="l">
              <a:defRPr sz="1650">
                <a:solidFill>
                  <a:srgbClr val="D8E1EF"/>
                </a:solidFill>
                <a:latin typeface="Arial"/>
                <a:ea typeface="Arial"/>
                <a:cs typeface="Arial"/>
              </a:defRPr>
            </a:lvl8pPr>
            <a:lvl9pPr algn="l">
              <a:defRPr sz="1650">
                <a:solidFill>
                  <a:srgbClr val="D8E1E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50">
                <a:solidFill>
                  <a:srgbClr val="D8E1EF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D8E1EF"/>
                </a:solidFill>
                <a:latin typeface="Arial"/>
                <a:ea typeface="Arial"/>
                <a:cs typeface="Arial"/>
              </a:rPr>
              <a:t>Zenith Nova Technologies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650">
                <a:solidFill>
                  <a:srgbClr val="D8E1EF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D8E1EF"/>
                </a:solidFill>
                <a:latin typeface="Arial"/>
                <a:ea typeface="Arial"/>
                <a:cs typeface="Arial"/>
              </a:rPr>
              <a:t>Fictional workforce and finance data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650">
                <a:solidFill>
                  <a:srgbClr val="D8E1EF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D8E1EF"/>
                </a:solidFill>
                <a:latin typeface="Arial"/>
                <a:ea typeface="Arial"/>
                <a:cs typeface="Arial"/>
              </a:rPr>
              <a:t>Observed data through 30 September 2026</a:t>
            </a:r>
          </a:p>
        </p:txBody>
      </p:sp>
    </p:spTree>
    <p:extLst>
      <p:ext uri="{BB962C8B-B14F-4D97-AF65-F5344CB8AC3E}">
        <p14:creationId xmlns:p14="http://schemas.microsoft.com/office/powerpoint/2010/main" val="127328657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FF33539-1DEF-43AE-BD2E-75639735B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8234"/>
          </a:bodyPr>
          <a:lstStyle xmlns:a="http://schemas.openxmlformats.org/drawingml/2006/main">
            <a:defPPr algn="l">
              <a:defRPr sz="300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defPPr>
            <a:lvl1pPr algn="l">
              <a:defRPr sz="300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lvl1pPr>
            <a:lvl2pPr algn="l">
              <a:defRPr sz="300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lvl2pPr>
            <a:lvl3pPr algn="l">
              <a:defRPr sz="300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lvl3pPr>
            <a:lvl4pPr algn="l">
              <a:defRPr sz="300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lvl4pPr>
            <a:lvl5pPr algn="l">
              <a:defRPr sz="300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lvl5pPr>
            <a:lvl6pPr algn="l">
              <a:defRPr sz="300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lvl6pPr>
            <a:lvl7pPr algn="l">
              <a:defRPr sz="300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lvl7pPr>
            <a:lvl8pPr algn="l">
              <a:defRPr sz="300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lvl8pPr>
            <a:lvl9pPr algn="l">
              <a:defRPr sz="300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4213D"/>
                </a:solidFill>
                <a:latin typeface="Arial"/>
                <a:ea typeface="Arial"/>
                <a:cs typeface="Arial"/>
              </a:rPr>
              <a:t>September snapshot: 441 employees and INR 55.52m payroll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388E0277-6CCB-4D95-A9BA-15D4B0447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04900"/>
            <a:ext cx="10744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>
                <a:solidFill>
                  <a:srgbClr val="526179"/>
                </a:solidFill>
                <a:latin typeface="Arial"/>
                <a:ea typeface="Arial"/>
                <a:cs typeface="Arial"/>
              </a:defRPr>
            </a:defPPr>
            <a:lvl1pPr algn="l">
              <a:defRPr sz="1500">
                <a:solidFill>
                  <a:srgbClr val="526179"/>
                </a:solidFill>
                <a:latin typeface="Arial"/>
                <a:ea typeface="Arial"/>
                <a:cs typeface="Arial"/>
              </a:defRPr>
            </a:lvl1pPr>
            <a:lvl2pPr algn="l">
              <a:defRPr sz="1500">
                <a:solidFill>
                  <a:srgbClr val="526179"/>
                </a:solidFill>
                <a:latin typeface="Arial"/>
                <a:ea typeface="Arial"/>
                <a:cs typeface="Arial"/>
              </a:defRPr>
            </a:lvl2pPr>
            <a:lvl3pPr algn="l">
              <a:defRPr sz="1500">
                <a:solidFill>
                  <a:srgbClr val="526179"/>
                </a:solidFill>
                <a:latin typeface="Arial"/>
                <a:ea typeface="Arial"/>
                <a:cs typeface="Arial"/>
              </a:defRPr>
            </a:lvl3pPr>
            <a:lvl4pPr algn="l">
              <a:defRPr sz="1500">
                <a:solidFill>
                  <a:srgbClr val="526179"/>
                </a:solidFill>
                <a:latin typeface="Arial"/>
                <a:ea typeface="Arial"/>
                <a:cs typeface="Arial"/>
              </a:defRPr>
            </a:lvl4pPr>
            <a:lvl5pPr algn="l">
              <a:defRPr sz="1500">
                <a:solidFill>
                  <a:srgbClr val="526179"/>
                </a:solidFill>
                <a:latin typeface="Arial"/>
                <a:ea typeface="Arial"/>
                <a:cs typeface="Arial"/>
              </a:defRPr>
            </a:lvl5pPr>
            <a:lvl6pPr algn="l">
              <a:defRPr sz="1500">
                <a:solidFill>
                  <a:srgbClr val="526179"/>
                </a:solidFill>
                <a:latin typeface="Arial"/>
                <a:ea typeface="Arial"/>
                <a:cs typeface="Arial"/>
              </a:defRPr>
            </a:lvl6pPr>
            <a:lvl7pPr algn="l">
              <a:defRPr sz="1500">
                <a:solidFill>
                  <a:srgbClr val="526179"/>
                </a:solidFill>
                <a:latin typeface="Arial"/>
                <a:ea typeface="Arial"/>
                <a:cs typeface="Arial"/>
              </a:defRPr>
            </a:lvl7pPr>
            <a:lvl8pPr algn="l">
              <a:defRPr sz="1500">
                <a:solidFill>
                  <a:srgbClr val="526179"/>
                </a:solidFill>
                <a:latin typeface="Arial"/>
                <a:ea typeface="Arial"/>
                <a:cs typeface="Arial"/>
              </a:defRPr>
            </a:lvl8pPr>
            <a:lvl9pPr algn="l">
              <a:defRPr sz="1500">
                <a:solidFill>
                  <a:srgbClr val="5261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>
                <a:solidFill>
                  <a:srgbClr val="526179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26179"/>
                </a:solidFill>
                <a:latin typeface="Arial"/>
                <a:ea typeface="Arial"/>
                <a:cs typeface="Arial"/>
              </a:rPr>
              <a:t>Leadership view at the latest observed month-end</a:t>
            </a:r>
          </a:p>
        </p:txBody>
      </p:sp>
      <p:sp>
        <p:nvSpPr>
          <p:cNvPr id="3" name="data-cutoff-footer">
            <a:extLst xmlns:a="http://schemas.openxmlformats.org/drawingml/2006/main">
              <a:ext uri="{FF2B5EF4-FFF2-40B4-BE49-F238E27FC236}">
                <a16:creationId xmlns:a16="http://schemas.microsoft.com/office/drawing/2014/main" id="{859A71B1-702A-49BE-BB8C-948C057F3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>
                <a:solidFill>
                  <a:srgbClr val="526179"/>
                </a:solidFill>
                <a:latin typeface="Arial"/>
                <a:ea typeface="Arial"/>
                <a:cs typeface="Arial"/>
              </a:defRPr>
            </a:defPPr>
            <a:lvl1pPr algn="l">
              <a:defRPr sz="1125">
                <a:solidFill>
                  <a:srgbClr val="526179"/>
                </a:solidFill>
                <a:latin typeface="Arial"/>
                <a:ea typeface="Arial"/>
                <a:cs typeface="Arial"/>
              </a:defRPr>
            </a:lvl1pPr>
            <a:lvl2pPr algn="l">
              <a:defRPr sz="1125">
                <a:solidFill>
                  <a:srgbClr val="526179"/>
                </a:solidFill>
                <a:latin typeface="Arial"/>
                <a:ea typeface="Arial"/>
                <a:cs typeface="Arial"/>
              </a:defRPr>
            </a:lvl2pPr>
            <a:lvl3pPr algn="l">
              <a:defRPr sz="1125">
                <a:solidFill>
                  <a:srgbClr val="526179"/>
                </a:solidFill>
                <a:latin typeface="Arial"/>
                <a:ea typeface="Arial"/>
                <a:cs typeface="Arial"/>
              </a:defRPr>
            </a:lvl3pPr>
            <a:lvl4pPr algn="l">
              <a:defRPr sz="1125">
                <a:solidFill>
                  <a:srgbClr val="526179"/>
                </a:solidFill>
                <a:latin typeface="Arial"/>
                <a:ea typeface="Arial"/>
                <a:cs typeface="Arial"/>
              </a:defRPr>
            </a:lvl4pPr>
            <a:lvl5pPr algn="l">
              <a:defRPr sz="1125">
                <a:solidFill>
                  <a:srgbClr val="526179"/>
                </a:solidFill>
                <a:latin typeface="Arial"/>
                <a:ea typeface="Arial"/>
                <a:cs typeface="Arial"/>
              </a:defRPr>
            </a:lvl5pPr>
            <a:lvl6pPr algn="l">
              <a:defRPr sz="1125">
                <a:solidFill>
                  <a:srgbClr val="526179"/>
                </a:solidFill>
                <a:latin typeface="Arial"/>
                <a:ea typeface="Arial"/>
                <a:cs typeface="Arial"/>
              </a:defRPr>
            </a:lvl6pPr>
            <a:lvl7pPr algn="l">
              <a:defRPr sz="1125">
                <a:solidFill>
                  <a:srgbClr val="526179"/>
                </a:solidFill>
                <a:latin typeface="Arial"/>
                <a:ea typeface="Arial"/>
                <a:cs typeface="Arial"/>
              </a:defRPr>
            </a:lvl7pPr>
            <a:lvl8pPr algn="l">
              <a:defRPr sz="1125">
                <a:solidFill>
                  <a:srgbClr val="526179"/>
                </a:solidFill>
                <a:latin typeface="Arial"/>
                <a:ea typeface="Arial"/>
                <a:cs typeface="Arial"/>
              </a:defRPr>
            </a:lvl8pPr>
            <a:lvl9pPr algn="l">
              <a:defRPr sz="1125">
                <a:solidFill>
                  <a:srgbClr val="5261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>
                <a:solidFill>
                  <a:srgbClr val="526179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26179"/>
                </a:solidFill>
                <a:latin typeface="Arial"/>
                <a:ea typeface="Arial"/>
                <a:cs typeface="Arial"/>
              </a:rPr>
              <a:t>Fictional Zenith Nova training data  |  Source cutoff: 30 Sep 2026</a:t>
            </a:r>
          </a:p>
        </p:txBody>
      </p:sp>
      <p:sp>
        <p:nvSpPr>
          <p:cNvPr id="4" name="note-226-74">
            <a:extLst xmlns:a="http://schemas.openxmlformats.org/drawingml/2006/main">
              <a:ext uri="{FF2B5EF4-FFF2-40B4-BE49-F238E27FC236}">
                <a16:creationId xmlns:a16="http://schemas.microsoft.com/office/drawing/2014/main" id="{BEEA8591-019A-4C0A-A826-3ADC9D75E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52650"/>
            <a:ext cx="2057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625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defPPr>
            <a:lvl1pPr algn="l">
              <a:defRPr sz="2625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lvl1pPr>
            <a:lvl2pPr algn="l">
              <a:defRPr sz="2625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lvl2pPr>
            <a:lvl3pPr algn="l">
              <a:defRPr sz="2625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lvl3pPr>
            <a:lvl4pPr algn="l">
              <a:defRPr sz="2625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lvl4pPr>
            <a:lvl5pPr algn="l">
              <a:defRPr sz="2625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lvl5pPr>
            <a:lvl6pPr algn="l">
              <a:defRPr sz="2625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lvl6pPr>
            <a:lvl7pPr algn="l">
              <a:defRPr sz="2625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lvl7pPr>
            <a:lvl8pPr algn="l">
              <a:defRPr sz="2625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lvl8pPr>
            <a:lvl9pPr algn="l">
              <a:defRPr sz="2625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4213D"/>
                </a:solidFill>
                <a:latin typeface="Arial"/>
                <a:ea typeface="Arial"/>
                <a:cs typeface="Arial"/>
              </a:rPr>
              <a:t>441</a:t>
            </a:r>
          </a:p>
        </p:txBody>
      </p:sp>
      <p:sp>
        <p:nvSpPr>
          <p:cNvPr id="5" name="note-294-74">
            <a:extLst xmlns:a="http://schemas.openxmlformats.org/drawingml/2006/main">
              <a:ext uri="{FF2B5EF4-FFF2-40B4-BE49-F238E27FC236}">
                <a16:creationId xmlns:a16="http://schemas.microsoft.com/office/drawing/2014/main" id="{A1E807F4-9646-4A53-A4AD-4062E446F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00350"/>
            <a:ext cx="2057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526179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526179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526179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526179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526179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526179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526179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526179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526179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5261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26179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179"/>
                </a:solidFill>
                <a:latin typeface="Arial"/>
                <a:ea typeface="Arial"/>
                <a:cs typeface="Arial"/>
              </a:rPr>
              <a:t>month-end employees</a:t>
            </a:r>
          </a:p>
        </p:txBody>
      </p:sp>
      <p:sp>
        <p:nvSpPr>
          <p:cNvPr id="6" name="note-226-300">
            <a:extLst xmlns:a="http://schemas.openxmlformats.org/drawingml/2006/main">
              <a:ext uri="{FF2B5EF4-FFF2-40B4-BE49-F238E27FC236}">
                <a16:creationId xmlns:a16="http://schemas.microsoft.com/office/drawing/2014/main" id="{AB365DB5-182D-4799-8596-E6945855F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152650"/>
            <a:ext cx="2057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625" b="1">
                <a:solidFill>
                  <a:srgbClr val="117C78"/>
                </a:solidFill>
                <a:latin typeface="Arial"/>
                <a:ea typeface="Arial"/>
                <a:cs typeface="Arial"/>
              </a:defRPr>
            </a:defPPr>
            <a:lvl1pPr algn="l">
              <a:defRPr sz="2625" b="1">
                <a:solidFill>
                  <a:srgbClr val="117C78"/>
                </a:solidFill>
                <a:latin typeface="Arial"/>
                <a:ea typeface="Arial"/>
                <a:cs typeface="Arial"/>
              </a:defRPr>
            </a:lvl1pPr>
            <a:lvl2pPr algn="l">
              <a:defRPr sz="2625" b="1">
                <a:solidFill>
                  <a:srgbClr val="117C78"/>
                </a:solidFill>
                <a:latin typeface="Arial"/>
                <a:ea typeface="Arial"/>
                <a:cs typeface="Arial"/>
              </a:defRPr>
            </a:lvl2pPr>
            <a:lvl3pPr algn="l">
              <a:defRPr sz="2625" b="1">
                <a:solidFill>
                  <a:srgbClr val="117C78"/>
                </a:solidFill>
                <a:latin typeface="Arial"/>
                <a:ea typeface="Arial"/>
                <a:cs typeface="Arial"/>
              </a:defRPr>
            </a:lvl3pPr>
            <a:lvl4pPr algn="l">
              <a:defRPr sz="2625" b="1">
                <a:solidFill>
                  <a:srgbClr val="117C78"/>
                </a:solidFill>
                <a:latin typeface="Arial"/>
                <a:ea typeface="Arial"/>
                <a:cs typeface="Arial"/>
              </a:defRPr>
            </a:lvl4pPr>
            <a:lvl5pPr algn="l">
              <a:defRPr sz="2625" b="1">
                <a:solidFill>
                  <a:srgbClr val="117C78"/>
                </a:solidFill>
                <a:latin typeface="Arial"/>
                <a:ea typeface="Arial"/>
                <a:cs typeface="Arial"/>
              </a:defRPr>
            </a:lvl5pPr>
            <a:lvl6pPr algn="l">
              <a:defRPr sz="2625" b="1">
                <a:solidFill>
                  <a:srgbClr val="117C78"/>
                </a:solidFill>
                <a:latin typeface="Arial"/>
                <a:ea typeface="Arial"/>
                <a:cs typeface="Arial"/>
              </a:defRPr>
            </a:lvl6pPr>
            <a:lvl7pPr algn="l">
              <a:defRPr sz="2625" b="1">
                <a:solidFill>
                  <a:srgbClr val="117C78"/>
                </a:solidFill>
                <a:latin typeface="Arial"/>
                <a:ea typeface="Arial"/>
                <a:cs typeface="Arial"/>
              </a:defRPr>
            </a:lvl7pPr>
            <a:lvl8pPr algn="l">
              <a:defRPr sz="2625" b="1">
                <a:solidFill>
                  <a:srgbClr val="117C78"/>
                </a:solidFill>
                <a:latin typeface="Arial"/>
                <a:ea typeface="Arial"/>
                <a:cs typeface="Arial"/>
              </a:defRPr>
            </a:lvl8pPr>
            <a:lvl9pPr algn="l">
              <a:defRPr sz="2625" b="1">
                <a:solidFill>
                  <a:srgbClr val="117C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117C78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17C78"/>
                </a:solidFill>
                <a:latin typeface="Arial"/>
                <a:ea typeface="Arial"/>
                <a:cs typeface="Arial"/>
              </a:rPr>
              <a:t>0.70%</a:t>
            </a:r>
          </a:p>
        </p:txBody>
      </p:sp>
      <p:sp>
        <p:nvSpPr>
          <p:cNvPr id="7" name="note-294-300">
            <a:extLst xmlns:a="http://schemas.openxmlformats.org/drawingml/2006/main">
              <a:ext uri="{FF2B5EF4-FFF2-40B4-BE49-F238E27FC236}">
                <a16:creationId xmlns:a16="http://schemas.microsoft.com/office/drawing/2014/main" id="{B94FB079-01C8-41A5-A6F1-6D3401DEA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800350"/>
            <a:ext cx="2057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526179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526179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526179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526179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526179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526179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526179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526179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526179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5261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26179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179"/>
                </a:solidFill>
                <a:latin typeface="Arial"/>
                <a:ea typeface="Arial"/>
                <a:cs typeface="Arial"/>
              </a:rPr>
              <a:t>monthly attrition</a:t>
            </a:r>
          </a:p>
        </p:txBody>
      </p:sp>
      <p:sp>
        <p:nvSpPr>
          <p:cNvPr id="8" name="note-226-526">
            <a:extLst xmlns:a="http://schemas.openxmlformats.org/drawingml/2006/main">
              <a:ext uri="{FF2B5EF4-FFF2-40B4-BE49-F238E27FC236}">
                <a16:creationId xmlns:a16="http://schemas.microsoft.com/office/drawing/2014/main" id="{B3BC94BF-71A2-4791-9DB6-20E773CF5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152650"/>
            <a:ext cx="2057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625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defPPr>
            <a:lvl1pPr algn="l">
              <a:defRPr sz="2625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lvl1pPr>
            <a:lvl2pPr algn="l">
              <a:defRPr sz="2625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lvl2pPr>
            <a:lvl3pPr algn="l">
              <a:defRPr sz="2625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lvl3pPr>
            <a:lvl4pPr algn="l">
              <a:defRPr sz="2625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lvl4pPr>
            <a:lvl5pPr algn="l">
              <a:defRPr sz="2625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lvl5pPr>
            <a:lvl6pPr algn="l">
              <a:defRPr sz="2625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lvl6pPr>
            <a:lvl7pPr algn="l">
              <a:defRPr sz="2625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lvl7pPr>
            <a:lvl8pPr algn="l">
              <a:defRPr sz="2625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lvl8pPr>
            <a:lvl9pPr algn="l">
              <a:defRPr sz="2625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4213D"/>
                </a:solidFill>
                <a:latin typeface="Arial"/>
                <a:ea typeface="Arial"/>
                <a:cs typeface="Arial"/>
              </a:rPr>
              <a:t>INR 55.52m</a:t>
            </a:r>
          </a:p>
        </p:txBody>
      </p:sp>
      <p:sp>
        <p:nvSpPr>
          <p:cNvPr id="9" name="note-294-526">
            <a:extLst xmlns:a="http://schemas.openxmlformats.org/drawingml/2006/main">
              <a:ext uri="{FF2B5EF4-FFF2-40B4-BE49-F238E27FC236}">
                <a16:creationId xmlns:a16="http://schemas.microsoft.com/office/drawing/2014/main" id="{1EEC743F-7958-46A0-A56E-0EDA26D00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800350"/>
            <a:ext cx="2057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526179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526179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526179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526179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526179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526179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526179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526179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526179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5261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26179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179"/>
                </a:solidFill>
                <a:latin typeface="Arial"/>
                <a:ea typeface="Arial"/>
                <a:cs typeface="Arial"/>
              </a:rPr>
              <a:t>employer payroll cost</a:t>
            </a:r>
          </a:p>
        </p:txBody>
      </p:sp>
      <p:sp>
        <p:nvSpPr>
          <p:cNvPr id="10" name="note-226-752">
            <a:extLst xmlns:a="http://schemas.openxmlformats.org/drawingml/2006/main">
              <a:ext uri="{FF2B5EF4-FFF2-40B4-BE49-F238E27FC236}">
                <a16:creationId xmlns:a16="http://schemas.microsoft.com/office/drawing/2014/main" id="{1719C31E-DB87-4F2E-BC33-8C312542D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152650"/>
            <a:ext cx="2057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625" b="1">
                <a:solidFill>
                  <a:srgbClr val="117C78"/>
                </a:solidFill>
                <a:latin typeface="Arial"/>
                <a:ea typeface="Arial"/>
                <a:cs typeface="Arial"/>
              </a:defRPr>
            </a:defPPr>
            <a:lvl1pPr algn="l">
              <a:defRPr sz="2625" b="1">
                <a:solidFill>
                  <a:srgbClr val="117C78"/>
                </a:solidFill>
                <a:latin typeface="Arial"/>
                <a:ea typeface="Arial"/>
                <a:cs typeface="Arial"/>
              </a:defRPr>
            </a:lvl1pPr>
            <a:lvl2pPr algn="l">
              <a:defRPr sz="2625" b="1">
                <a:solidFill>
                  <a:srgbClr val="117C78"/>
                </a:solidFill>
                <a:latin typeface="Arial"/>
                <a:ea typeface="Arial"/>
                <a:cs typeface="Arial"/>
              </a:defRPr>
            </a:lvl2pPr>
            <a:lvl3pPr algn="l">
              <a:defRPr sz="2625" b="1">
                <a:solidFill>
                  <a:srgbClr val="117C78"/>
                </a:solidFill>
                <a:latin typeface="Arial"/>
                <a:ea typeface="Arial"/>
                <a:cs typeface="Arial"/>
              </a:defRPr>
            </a:lvl3pPr>
            <a:lvl4pPr algn="l">
              <a:defRPr sz="2625" b="1">
                <a:solidFill>
                  <a:srgbClr val="117C78"/>
                </a:solidFill>
                <a:latin typeface="Arial"/>
                <a:ea typeface="Arial"/>
                <a:cs typeface="Arial"/>
              </a:defRPr>
            </a:lvl4pPr>
            <a:lvl5pPr algn="l">
              <a:defRPr sz="2625" b="1">
                <a:solidFill>
                  <a:srgbClr val="117C78"/>
                </a:solidFill>
                <a:latin typeface="Arial"/>
                <a:ea typeface="Arial"/>
                <a:cs typeface="Arial"/>
              </a:defRPr>
            </a:lvl5pPr>
            <a:lvl6pPr algn="l">
              <a:defRPr sz="2625" b="1">
                <a:solidFill>
                  <a:srgbClr val="117C78"/>
                </a:solidFill>
                <a:latin typeface="Arial"/>
                <a:ea typeface="Arial"/>
                <a:cs typeface="Arial"/>
              </a:defRPr>
            </a:lvl6pPr>
            <a:lvl7pPr algn="l">
              <a:defRPr sz="2625" b="1">
                <a:solidFill>
                  <a:srgbClr val="117C78"/>
                </a:solidFill>
                <a:latin typeface="Arial"/>
                <a:ea typeface="Arial"/>
                <a:cs typeface="Arial"/>
              </a:defRPr>
            </a:lvl7pPr>
            <a:lvl8pPr algn="l">
              <a:defRPr sz="2625" b="1">
                <a:solidFill>
                  <a:srgbClr val="117C78"/>
                </a:solidFill>
                <a:latin typeface="Arial"/>
                <a:ea typeface="Arial"/>
                <a:cs typeface="Arial"/>
              </a:defRPr>
            </a:lvl8pPr>
            <a:lvl9pPr algn="l">
              <a:defRPr sz="2625" b="1">
                <a:solidFill>
                  <a:srgbClr val="117C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117C78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17C78"/>
                </a:solidFill>
                <a:latin typeface="Arial"/>
                <a:ea typeface="Arial"/>
                <a:cs typeface="Arial"/>
              </a:rPr>
              <a:t>INR 14.99m</a:t>
            </a:r>
          </a:p>
        </p:txBody>
      </p:sp>
      <p:sp>
        <p:nvSpPr>
          <p:cNvPr id="11" name="note-294-752">
            <a:extLst xmlns:a="http://schemas.openxmlformats.org/drawingml/2006/main">
              <a:ext uri="{FF2B5EF4-FFF2-40B4-BE49-F238E27FC236}">
                <a16:creationId xmlns:a16="http://schemas.microsoft.com/office/drawing/2014/main" id="{4DE36D03-94EF-4707-B450-72D7D1223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800350"/>
            <a:ext cx="2057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526179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526179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526179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526179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526179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526179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526179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526179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526179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5261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26179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179"/>
                </a:solidFill>
                <a:latin typeface="Arial"/>
                <a:ea typeface="Arial"/>
                <a:cs typeface="Arial"/>
              </a:rPr>
              <a:t>net profit</a:t>
            </a:r>
          </a:p>
        </p:txBody>
      </p:sp>
      <p:sp>
        <p:nvSpPr>
          <p:cNvPr id="12" name="note-226-978">
            <a:extLst xmlns:a="http://schemas.openxmlformats.org/drawingml/2006/main">
              <a:ext uri="{FF2B5EF4-FFF2-40B4-BE49-F238E27FC236}">
                <a16:creationId xmlns:a16="http://schemas.microsoft.com/office/drawing/2014/main" id="{D17AF1EA-7F18-4696-AED8-7F3CBF84D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152650"/>
            <a:ext cx="2057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625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defPPr>
            <a:lvl1pPr algn="l">
              <a:defRPr sz="2625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lvl1pPr>
            <a:lvl2pPr algn="l">
              <a:defRPr sz="2625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lvl2pPr>
            <a:lvl3pPr algn="l">
              <a:defRPr sz="2625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lvl3pPr>
            <a:lvl4pPr algn="l">
              <a:defRPr sz="2625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lvl4pPr>
            <a:lvl5pPr algn="l">
              <a:defRPr sz="2625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lvl5pPr>
            <a:lvl6pPr algn="l">
              <a:defRPr sz="2625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lvl6pPr>
            <a:lvl7pPr algn="l">
              <a:defRPr sz="2625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lvl7pPr>
            <a:lvl8pPr algn="l">
              <a:defRPr sz="2625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lvl8pPr>
            <a:lvl9pPr algn="l">
              <a:defRPr sz="2625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4213D"/>
                </a:solidFill>
                <a:latin typeface="Arial"/>
                <a:ea typeface="Arial"/>
                <a:cs typeface="Arial"/>
              </a:rPr>
              <a:t>48.0 days</a:t>
            </a:r>
          </a:p>
        </p:txBody>
      </p:sp>
      <p:sp>
        <p:nvSpPr>
          <p:cNvPr id="13" name="note-294-978">
            <a:extLst xmlns:a="http://schemas.openxmlformats.org/drawingml/2006/main">
              <a:ext uri="{FF2B5EF4-FFF2-40B4-BE49-F238E27FC236}">
                <a16:creationId xmlns:a16="http://schemas.microsoft.com/office/drawing/2014/main" id="{E78F81E0-95BE-4AAA-8BA0-12B0F8739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800350"/>
            <a:ext cx="2057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526179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526179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526179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526179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526179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526179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526179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526179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526179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5261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26179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179"/>
                </a:solidFill>
                <a:latin typeface="Arial"/>
                <a:ea typeface="Arial"/>
                <a:cs typeface="Arial"/>
              </a:rPr>
              <a:t>days sales outstanding</a:t>
            </a:r>
          </a:p>
        </p:txBody>
      </p:sp>
      <p:sp>
        <p:nvSpPr>
          <p:cNvPr id="14" name="note-430-76">
            <a:extLst xmlns:a="http://schemas.openxmlformats.org/drawingml/2006/main">
              <a:ext uri="{FF2B5EF4-FFF2-40B4-BE49-F238E27FC236}">
                <a16:creationId xmlns:a16="http://schemas.microsoft.com/office/drawing/2014/main" id="{BE87B214-D251-404A-8D46-1337A5EB1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95750"/>
            <a:ext cx="981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The latest source data cutoff is 30 Sep 2026. Cash values are ledger movements, and model forecasts are not treated as observed results.</a:t>
            </a:r>
          </a:p>
        </p:txBody>
      </p:sp>
      <p:sp>
        <p:nvSpPr>
          <p:cNvPr id="15" name="note-548-76">
            <a:extLst xmlns:a="http://schemas.openxmlformats.org/drawingml/2006/main">
              <a:ext uri="{FF2B5EF4-FFF2-40B4-BE49-F238E27FC236}">
                <a16:creationId xmlns:a16="http://schemas.microsoft.com/office/drawing/2014/main" id="{F81D6F01-C61D-466D-B85E-31E4FBB15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1970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526179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526179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526179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526179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526179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526179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526179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526179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526179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5261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5261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179"/>
                </a:solidFill>
                <a:latin typeface="Arial"/>
                <a:ea typeface="Arial"/>
                <a:cs typeface="Arial"/>
              </a:rPr>
              <a:t>All amounts are INR. Source: supplied fictional training extracts.</a:t>
            </a:r>
          </a:p>
        </p:txBody>
      </p:sp>
    </p:spTree>
    <p:extLst>
      <p:ext uri="{BB962C8B-B14F-4D97-AF65-F5344CB8AC3E}">
        <p14:creationId xmlns:p14="http://schemas.microsoft.com/office/powerpoint/2010/main" val="55463636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6B53CD4-BC12-44C5-866A-3C236C9B1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00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defPPr>
            <a:lvl1pPr algn="l">
              <a:defRPr sz="300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lvl1pPr>
            <a:lvl2pPr algn="l">
              <a:defRPr sz="300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lvl2pPr>
            <a:lvl3pPr algn="l">
              <a:defRPr sz="300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lvl3pPr>
            <a:lvl4pPr algn="l">
              <a:defRPr sz="300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lvl4pPr>
            <a:lvl5pPr algn="l">
              <a:defRPr sz="300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lvl5pPr>
            <a:lvl6pPr algn="l">
              <a:defRPr sz="300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lvl6pPr>
            <a:lvl7pPr algn="l">
              <a:defRPr sz="300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lvl7pPr>
            <a:lvl8pPr algn="l">
              <a:defRPr sz="300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lvl8pPr>
            <a:lvl9pPr algn="l">
              <a:defRPr sz="300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4213D"/>
                </a:solidFill>
                <a:latin typeface="Arial"/>
                <a:ea typeface="Arial"/>
                <a:cs typeface="Arial"/>
              </a:rPr>
              <a:t>D08 attendance is 5.1 points below its 94% target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7B10922D-A2C5-431C-8163-E9DF326E9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04900"/>
            <a:ext cx="10744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>
                <a:solidFill>
                  <a:srgbClr val="526179"/>
                </a:solidFill>
                <a:latin typeface="Arial"/>
                <a:ea typeface="Arial"/>
                <a:cs typeface="Arial"/>
              </a:defRPr>
            </a:defPPr>
            <a:lvl1pPr algn="l">
              <a:defRPr sz="1500">
                <a:solidFill>
                  <a:srgbClr val="526179"/>
                </a:solidFill>
                <a:latin typeface="Arial"/>
                <a:ea typeface="Arial"/>
                <a:cs typeface="Arial"/>
              </a:defRPr>
            </a:lvl1pPr>
            <a:lvl2pPr algn="l">
              <a:defRPr sz="1500">
                <a:solidFill>
                  <a:srgbClr val="526179"/>
                </a:solidFill>
                <a:latin typeface="Arial"/>
                <a:ea typeface="Arial"/>
                <a:cs typeface="Arial"/>
              </a:defRPr>
            </a:lvl2pPr>
            <a:lvl3pPr algn="l">
              <a:defRPr sz="1500">
                <a:solidFill>
                  <a:srgbClr val="526179"/>
                </a:solidFill>
                <a:latin typeface="Arial"/>
                <a:ea typeface="Arial"/>
                <a:cs typeface="Arial"/>
              </a:defRPr>
            </a:lvl3pPr>
            <a:lvl4pPr algn="l">
              <a:defRPr sz="1500">
                <a:solidFill>
                  <a:srgbClr val="526179"/>
                </a:solidFill>
                <a:latin typeface="Arial"/>
                <a:ea typeface="Arial"/>
                <a:cs typeface="Arial"/>
              </a:defRPr>
            </a:lvl4pPr>
            <a:lvl5pPr algn="l">
              <a:defRPr sz="1500">
                <a:solidFill>
                  <a:srgbClr val="526179"/>
                </a:solidFill>
                <a:latin typeface="Arial"/>
                <a:ea typeface="Arial"/>
                <a:cs typeface="Arial"/>
              </a:defRPr>
            </a:lvl5pPr>
            <a:lvl6pPr algn="l">
              <a:defRPr sz="1500">
                <a:solidFill>
                  <a:srgbClr val="526179"/>
                </a:solidFill>
                <a:latin typeface="Arial"/>
                <a:ea typeface="Arial"/>
                <a:cs typeface="Arial"/>
              </a:defRPr>
            </a:lvl6pPr>
            <a:lvl7pPr algn="l">
              <a:defRPr sz="1500">
                <a:solidFill>
                  <a:srgbClr val="526179"/>
                </a:solidFill>
                <a:latin typeface="Arial"/>
                <a:ea typeface="Arial"/>
                <a:cs typeface="Arial"/>
              </a:defRPr>
            </a:lvl7pPr>
            <a:lvl8pPr algn="l">
              <a:defRPr sz="1500">
                <a:solidFill>
                  <a:srgbClr val="526179"/>
                </a:solidFill>
                <a:latin typeface="Arial"/>
                <a:ea typeface="Arial"/>
                <a:cs typeface="Arial"/>
              </a:defRPr>
            </a:lvl8pPr>
            <a:lvl9pPr algn="l">
              <a:defRPr sz="1500">
                <a:solidFill>
                  <a:srgbClr val="5261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>
                <a:solidFill>
                  <a:srgbClr val="526179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26179"/>
                </a:solidFill>
                <a:latin typeface="Arial"/>
                <a:ea typeface="Arial"/>
                <a:cs typeface="Arial"/>
              </a:rPr>
              <a:t>Three departments are below target; D08 has the largest gap</a:t>
            </a:r>
          </a:p>
        </p:txBody>
      </p:sp>
      <p:sp>
        <p:nvSpPr>
          <p:cNvPr id="3" name="data-cutoff-footer">
            <a:extLst xmlns:a="http://schemas.openxmlformats.org/drawingml/2006/main">
              <a:ext uri="{FF2B5EF4-FFF2-40B4-BE49-F238E27FC236}">
                <a16:creationId xmlns:a16="http://schemas.microsoft.com/office/drawing/2014/main" id="{DD9B29B5-6723-4CF2-BBEE-435551C20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>
                <a:solidFill>
                  <a:srgbClr val="526179"/>
                </a:solidFill>
                <a:latin typeface="Arial"/>
                <a:ea typeface="Arial"/>
                <a:cs typeface="Arial"/>
              </a:defRPr>
            </a:defPPr>
            <a:lvl1pPr algn="l">
              <a:defRPr sz="1125">
                <a:solidFill>
                  <a:srgbClr val="526179"/>
                </a:solidFill>
                <a:latin typeface="Arial"/>
                <a:ea typeface="Arial"/>
                <a:cs typeface="Arial"/>
              </a:defRPr>
            </a:lvl1pPr>
            <a:lvl2pPr algn="l">
              <a:defRPr sz="1125">
                <a:solidFill>
                  <a:srgbClr val="526179"/>
                </a:solidFill>
                <a:latin typeface="Arial"/>
                <a:ea typeface="Arial"/>
                <a:cs typeface="Arial"/>
              </a:defRPr>
            </a:lvl2pPr>
            <a:lvl3pPr algn="l">
              <a:defRPr sz="1125">
                <a:solidFill>
                  <a:srgbClr val="526179"/>
                </a:solidFill>
                <a:latin typeface="Arial"/>
                <a:ea typeface="Arial"/>
                <a:cs typeface="Arial"/>
              </a:defRPr>
            </a:lvl3pPr>
            <a:lvl4pPr algn="l">
              <a:defRPr sz="1125">
                <a:solidFill>
                  <a:srgbClr val="526179"/>
                </a:solidFill>
                <a:latin typeface="Arial"/>
                <a:ea typeface="Arial"/>
                <a:cs typeface="Arial"/>
              </a:defRPr>
            </a:lvl4pPr>
            <a:lvl5pPr algn="l">
              <a:defRPr sz="1125">
                <a:solidFill>
                  <a:srgbClr val="526179"/>
                </a:solidFill>
                <a:latin typeface="Arial"/>
                <a:ea typeface="Arial"/>
                <a:cs typeface="Arial"/>
              </a:defRPr>
            </a:lvl5pPr>
            <a:lvl6pPr algn="l">
              <a:defRPr sz="1125">
                <a:solidFill>
                  <a:srgbClr val="526179"/>
                </a:solidFill>
                <a:latin typeface="Arial"/>
                <a:ea typeface="Arial"/>
                <a:cs typeface="Arial"/>
              </a:defRPr>
            </a:lvl6pPr>
            <a:lvl7pPr algn="l">
              <a:defRPr sz="1125">
                <a:solidFill>
                  <a:srgbClr val="526179"/>
                </a:solidFill>
                <a:latin typeface="Arial"/>
                <a:ea typeface="Arial"/>
                <a:cs typeface="Arial"/>
              </a:defRPr>
            </a:lvl7pPr>
            <a:lvl8pPr algn="l">
              <a:defRPr sz="1125">
                <a:solidFill>
                  <a:srgbClr val="526179"/>
                </a:solidFill>
                <a:latin typeface="Arial"/>
                <a:ea typeface="Arial"/>
                <a:cs typeface="Arial"/>
              </a:defRPr>
            </a:lvl8pPr>
            <a:lvl9pPr algn="l">
              <a:defRPr sz="1125">
                <a:solidFill>
                  <a:srgbClr val="5261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>
                <a:solidFill>
                  <a:srgbClr val="526179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26179"/>
                </a:solidFill>
                <a:latin typeface="Arial"/>
                <a:ea typeface="Arial"/>
                <a:cs typeface="Arial"/>
              </a:rPr>
              <a:t>Fictional Zenith Nova training data  |  Source cutoff: 30 Sep 2026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4443CF37-8F38-4B28-8A55-589849A93EA5}"/>
              </a:ext>
            </a:extLst>
          </p:cNvPr>
          <p:cNvGraphicFramePr/>
          <p:nvPr/>
        </p:nvGraphicFramePr>
        <p:xfrm>
          <a:off xmlns:a="http://schemas.openxmlformats.org/drawingml/2006/main" x="685800" y="1676400"/>
          <a:ext xmlns:a="http://schemas.openxmlformats.org/drawingml/2006/main" cx="7334250" cy="4095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7b2c9a007934ff7"/>
          </a:graphicData>
        </a:graphic>
      </p:graphicFrame>
      <p:sp>
        <p:nvSpPr>
          <p:cNvPr id="5" name="note-218-884">
            <a:extLst xmlns:a="http://schemas.openxmlformats.org/drawingml/2006/main">
              <a:ext uri="{FF2B5EF4-FFF2-40B4-BE49-F238E27FC236}">
                <a16:creationId xmlns:a16="http://schemas.microsoft.com/office/drawing/2014/main" id="{6F0B2F21-921E-4914-9DAA-8E0602EF8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076450"/>
            <a:ext cx="304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D17B0F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D17B0F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D17B0F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D17B0F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D17B0F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D17B0F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D17B0F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D17B0F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D17B0F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D17B0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D17B0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D17B0F"/>
                </a:solidFill>
                <a:latin typeface="Arial"/>
                <a:ea typeface="Arial"/>
                <a:cs typeface="Arial"/>
              </a:rPr>
              <a:t>D08  88.9%  |  -5.1 pp</a:t>
            </a:r>
          </a:p>
        </p:txBody>
      </p:sp>
      <p:sp>
        <p:nvSpPr>
          <p:cNvPr id="6" name="note-309-884">
            <a:extLst xmlns:a="http://schemas.openxmlformats.org/drawingml/2006/main">
              <a:ext uri="{FF2B5EF4-FFF2-40B4-BE49-F238E27FC236}">
                <a16:creationId xmlns:a16="http://schemas.microsoft.com/office/drawing/2014/main" id="{967F3B3D-EBA7-4B1D-9A37-6FA56937F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943225"/>
            <a:ext cx="304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4213D"/>
                </a:solidFill>
                <a:latin typeface="Arial"/>
                <a:ea typeface="Arial"/>
                <a:cs typeface="Arial"/>
              </a:rPr>
              <a:t>D06  92.4%  |  -1.6 pp</a:t>
            </a:r>
          </a:p>
        </p:txBody>
      </p:sp>
      <p:sp>
        <p:nvSpPr>
          <p:cNvPr id="7" name="note-390-884">
            <a:extLst xmlns:a="http://schemas.openxmlformats.org/drawingml/2006/main">
              <a:ext uri="{FF2B5EF4-FFF2-40B4-BE49-F238E27FC236}">
                <a16:creationId xmlns:a16="http://schemas.microsoft.com/office/drawing/2014/main" id="{C84986AF-A684-4932-B809-0C6B16666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714750"/>
            <a:ext cx="304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4213D"/>
                </a:solidFill>
                <a:latin typeface="Arial"/>
                <a:ea typeface="Arial"/>
                <a:cs typeface="Arial"/>
              </a:rPr>
              <a:t>D10  93.3%  |  -0.7 pp</a:t>
            </a:r>
          </a:p>
        </p:txBody>
      </p:sp>
      <p:sp>
        <p:nvSpPr>
          <p:cNvPr id="8" name="note-485-884">
            <a:extLst xmlns:a="http://schemas.openxmlformats.org/drawingml/2006/main">
              <a:ext uri="{FF2B5EF4-FFF2-40B4-BE49-F238E27FC236}">
                <a16:creationId xmlns:a16="http://schemas.microsoft.com/office/drawing/2014/main" id="{FFAE9C2A-D8BA-4CA1-AE8F-8DC5DBB91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619625"/>
            <a:ext cx="304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526179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526179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526179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526179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526179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526179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526179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526179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526179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5261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526179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179"/>
                </a:solidFill>
                <a:latin typeface="Arial"/>
                <a:ea typeface="Arial"/>
                <a:cs typeface="Arial"/>
              </a:rPr>
              <a:t>Review staffing coverage and attendance patterns in D08 before the next roster cycle.</a:t>
            </a:r>
          </a:p>
        </p:txBody>
      </p:sp>
    </p:spTree>
    <p:extLst>
      <p:ext uri="{BB962C8B-B14F-4D97-AF65-F5344CB8AC3E}">
        <p14:creationId xmlns:p14="http://schemas.microsoft.com/office/powerpoint/2010/main" val="19199993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1D878AE-CAA7-4BBE-B607-8D7B15954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00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defPPr>
            <a:lvl1pPr algn="l">
              <a:defRPr sz="300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lvl1pPr>
            <a:lvl2pPr algn="l">
              <a:defRPr sz="300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lvl2pPr>
            <a:lvl3pPr algn="l">
              <a:defRPr sz="300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lvl3pPr>
            <a:lvl4pPr algn="l">
              <a:defRPr sz="300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lvl4pPr>
            <a:lvl5pPr algn="l">
              <a:defRPr sz="300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lvl5pPr>
            <a:lvl6pPr algn="l">
              <a:defRPr sz="300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lvl6pPr>
            <a:lvl7pPr algn="l">
              <a:defRPr sz="300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lvl7pPr>
            <a:lvl8pPr algn="l">
              <a:defRPr sz="300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lvl8pPr>
            <a:lvl9pPr algn="l">
              <a:defRPr sz="300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4213D"/>
                </a:solidFill>
                <a:latin typeface="Arial"/>
                <a:ea typeface="Arial"/>
                <a:cs typeface="Arial"/>
              </a:rPr>
              <a:t>D01 payroll finished INR 214k over September budget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9A3A1D00-1E13-4400-AE95-18921DB7E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04900"/>
            <a:ext cx="10744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>
                <a:solidFill>
                  <a:srgbClr val="526179"/>
                </a:solidFill>
                <a:latin typeface="Arial"/>
                <a:ea typeface="Arial"/>
                <a:cs typeface="Arial"/>
              </a:defRPr>
            </a:defPPr>
            <a:lvl1pPr algn="l">
              <a:defRPr sz="1500">
                <a:solidFill>
                  <a:srgbClr val="526179"/>
                </a:solidFill>
                <a:latin typeface="Arial"/>
                <a:ea typeface="Arial"/>
                <a:cs typeface="Arial"/>
              </a:defRPr>
            </a:lvl1pPr>
            <a:lvl2pPr algn="l">
              <a:defRPr sz="1500">
                <a:solidFill>
                  <a:srgbClr val="526179"/>
                </a:solidFill>
                <a:latin typeface="Arial"/>
                <a:ea typeface="Arial"/>
                <a:cs typeface="Arial"/>
              </a:defRPr>
            </a:lvl2pPr>
            <a:lvl3pPr algn="l">
              <a:defRPr sz="1500">
                <a:solidFill>
                  <a:srgbClr val="526179"/>
                </a:solidFill>
                <a:latin typeface="Arial"/>
                <a:ea typeface="Arial"/>
                <a:cs typeface="Arial"/>
              </a:defRPr>
            </a:lvl3pPr>
            <a:lvl4pPr algn="l">
              <a:defRPr sz="1500">
                <a:solidFill>
                  <a:srgbClr val="526179"/>
                </a:solidFill>
                <a:latin typeface="Arial"/>
                <a:ea typeface="Arial"/>
                <a:cs typeface="Arial"/>
              </a:defRPr>
            </a:lvl4pPr>
            <a:lvl5pPr algn="l">
              <a:defRPr sz="1500">
                <a:solidFill>
                  <a:srgbClr val="526179"/>
                </a:solidFill>
                <a:latin typeface="Arial"/>
                <a:ea typeface="Arial"/>
                <a:cs typeface="Arial"/>
              </a:defRPr>
            </a:lvl5pPr>
            <a:lvl6pPr algn="l">
              <a:defRPr sz="1500">
                <a:solidFill>
                  <a:srgbClr val="526179"/>
                </a:solidFill>
                <a:latin typeface="Arial"/>
                <a:ea typeface="Arial"/>
                <a:cs typeface="Arial"/>
              </a:defRPr>
            </a:lvl6pPr>
            <a:lvl7pPr algn="l">
              <a:defRPr sz="1500">
                <a:solidFill>
                  <a:srgbClr val="526179"/>
                </a:solidFill>
                <a:latin typeface="Arial"/>
                <a:ea typeface="Arial"/>
                <a:cs typeface="Arial"/>
              </a:defRPr>
            </a:lvl7pPr>
            <a:lvl8pPr algn="l">
              <a:defRPr sz="1500">
                <a:solidFill>
                  <a:srgbClr val="526179"/>
                </a:solidFill>
                <a:latin typeface="Arial"/>
                <a:ea typeface="Arial"/>
                <a:cs typeface="Arial"/>
              </a:defRPr>
            </a:lvl8pPr>
            <a:lvl9pPr algn="l">
              <a:defRPr sz="1500">
                <a:solidFill>
                  <a:srgbClr val="5261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>
                <a:solidFill>
                  <a:srgbClr val="526179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26179"/>
                </a:solidFill>
                <a:latin typeface="Arial"/>
                <a:ea typeface="Arial"/>
                <a:cs typeface="Arial"/>
              </a:rPr>
              <a:t>Positive variance means actual employer cost exceeded budget</a:t>
            </a:r>
          </a:p>
        </p:txBody>
      </p:sp>
      <p:sp>
        <p:nvSpPr>
          <p:cNvPr id="3" name="data-cutoff-footer">
            <a:extLst xmlns:a="http://schemas.openxmlformats.org/drawingml/2006/main">
              <a:ext uri="{FF2B5EF4-FFF2-40B4-BE49-F238E27FC236}">
                <a16:creationId xmlns:a16="http://schemas.microsoft.com/office/drawing/2014/main" id="{F34EB13D-C878-4515-8F65-0A6B2A93C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>
                <a:solidFill>
                  <a:srgbClr val="526179"/>
                </a:solidFill>
                <a:latin typeface="Arial"/>
                <a:ea typeface="Arial"/>
                <a:cs typeface="Arial"/>
              </a:defRPr>
            </a:defPPr>
            <a:lvl1pPr algn="l">
              <a:defRPr sz="1125">
                <a:solidFill>
                  <a:srgbClr val="526179"/>
                </a:solidFill>
                <a:latin typeface="Arial"/>
                <a:ea typeface="Arial"/>
                <a:cs typeface="Arial"/>
              </a:defRPr>
            </a:lvl1pPr>
            <a:lvl2pPr algn="l">
              <a:defRPr sz="1125">
                <a:solidFill>
                  <a:srgbClr val="526179"/>
                </a:solidFill>
                <a:latin typeface="Arial"/>
                <a:ea typeface="Arial"/>
                <a:cs typeface="Arial"/>
              </a:defRPr>
            </a:lvl2pPr>
            <a:lvl3pPr algn="l">
              <a:defRPr sz="1125">
                <a:solidFill>
                  <a:srgbClr val="526179"/>
                </a:solidFill>
                <a:latin typeface="Arial"/>
                <a:ea typeface="Arial"/>
                <a:cs typeface="Arial"/>
              </a:defRPr>
            </a:lvl3pPr>
            <a:lvl4pPr algn="l">
              <a:defRPr sz="1125">
                <a:solidFill>
                  <a:srgbClr val="526179"/>
                </a:solidFill>
                <a:latin typeface="Arial"/>
                <a:ea typeface="Arial"/>
                <a:cs typeface="Arial"/>
              </a:defRPr>
            </a:lvl4pPr>
            <a:lvl5pPr algn="l">
              <a:defRPr sz="1125">
                <a:solidFill>
                  <a:srgbClr val="526179"/>
                </a:solidFill>
                <a:latin typeface="Arial"/>
                <a:ea typeface="Arial"/>
                <a:cs typeface="Arial"/>
              </a:defRPr>
            </a:lvl5pPr>
            <a:lvl6pPr algn="l">
              <a:defRPr sz="1125">
                <a:solidFill>
                  <a:srgbClr val="526179"/>
                </a:solidFill>
                <a:latin typeface="Arial"/>
                <a:ea typeface="Arial"/>
                <a:cs typeface="Arial"/>
              </a:defRPr>
            </a:lvl6pPr>
            <a:lvl7pPr algn="l">
              <a:defRPr sz="1125">
                <a:solidFill>
                  <a:srgbClr val="526179"/>
                </a:solidFill>
                <a:latin typeface="Arial"/>
                <a:ea typeface="Arial"/>
                <a:cs typeface="Arial"/>
              </a:defRPr>
            </a:lvl7pPr>
            <a:lvl8pPr algn="l">
              <a:defRPr sz="1125">
                <a:solidFill>
                  <a:srgbClr val="526179"/>
                </a:solidFill>
                <a:latin typeface="Arial"/>
                <a:ea typeface="Arial"/>
                <a:cs typeface="Arial"/>
              </a:defRPr>
            </a:lvl8pPr>
            <a:lvl9pPr algn="l">
              <a:defRPr sz="1125">
                <a:solidFill>
                  <a:srgbClr val="5261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>
                <a:solidFill>
                  <a:srgbClr val="526179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26179"/>
                </a:solidFill>
                <a:latin typeface="Arial"/>
                <a:ea typeface="Arial"/>
                <a:cs typeface="Arial"/>
              </a:rPr>
              <a:t>Fictional Zenith Nova training data  |  Source cutoff: 30 Sep 2026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CC54E4EC-78AD-4D70-A340-CCFC2A4C3424}"/>
              </a:ext>
            </a:extLst>
          </p:cNvPr>
          <p:cNvGraphicFramePr/>
          <p:nvPr/>
        </p:nvGraphicFramePr>
        <p:xfrm>
          <a:off xmlns:a="http://schemas.openxmlformats.org/drawingml/2006/main" x="685800" y="1676400"/>
          <a:ext xmlns:a="http://schemas.openxmlformats.org/drawingml/2006/main" cx="7505700" cy="4095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2a2fad5f1e3469d"/>
          </a:graphicData>
        </a:graphic>
      </p:graphicFrame>
      <p:sp>
        <p:nvSpPr>
          <p:cNvPr id="5" name="note-231-895">
            <a:extLst xmlns:a="http://schemas.openxmlformats.org/drawingml/2006/main">
              <a:ext uri="{FF2B5EF4-FFF2-40B4-BE49-F238E27FC236}">
                <a16:creationId xmlns:a16="http://schemas.microsoft.com/office/drawing/2014/main" id="{D7046656-CA45-44EB-8604-78E6F0816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200275"/>
            <a:ext cx="285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D17B0F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D17B0F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D17B0F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D17B0F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D17B0F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D17B0F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D17B0F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D17B0F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D17B0F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D17B0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D17B0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D17B0F"/>
                </a:solidFill>
                <a:latin typeface="Arial"/>
                <a:ea typeface="Arial"/>
                <a:cs typeface="Arial"/>
              </a:rPr>
              <a:t>D01  +INR 214,404  (+1.03%)</a:t>
            </a:r>
          </a:p>
        </p:txBody>
      </p:sp>
      <p:sp>
        <p:nvSpPr>
          <p:cNvPr id="6" name="note-338-895">
            <a:extLst xmlns:a="http://schemas.openxmlformats.org/drawingml/2006/main">
              <a:ext uri="{FF2B5EF4-FFF2-40B4-BE49-F238E27FC236}">
                <a16:creationId xmlns:a16="http://schemas.microsoft.com/office/drawing/2014/main" id="{DD8C8314-65FC-45C9-AA0A-B2412835E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21945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13D"/>
                </a:solidFill>
                <a:latin typeface="Arial"/>
                <a:ea typeface="Arial"/>
                <a:cs typeface="Arial"/>
              </a:rPr>
              <a:t>D03  +INR 30,890</a:t>
            </a:r>
          </a:p>
        </p:txBody>
      </p:sp>
      <p:sp>
        <p:nvSpPr>
          <p:cNvPr id="7" name="note-403-895">
            <a:extLst xmlns:a="http://schemas.openxmlformats.org/drawingml/2006/main">
              <a:ext uri="{FF2B5EF4-FFF2-40B4-BE49-F238E27FC236}">
                <a16:creationId xmlns:a16="http://schemas.microsoft.com/office/drawing/2014/main" id="{608012FE-517C-4328-B1A7-A87F1B449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838575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13D"/>
                </a:solidFill>
                <a:latin typeface="Arial"/>
                <a:ea typeface="Arial"/>
                <a:cs typeface="Arial"/>
              </a:rPr>
              <a:t>D07  +INR 3,279</a:t>
            </a:r>
          </a:p>
        </p:txBody>
      </p:sp>
      <p:sp>
        <p:nvSpPr>
          <p:cNvPr id="8" name="note-483-895">
            <a:extLst xmlns:a="http://schemas.openxmlformats.org/drawingml/2006/main">
              <a:ext uri="{FF2B5EF4-FFF2-40B4-BE49-F238E27FC236}">
                <a16:creationId xmlns:a16="http://schemas.microsoft.com/office/drawing/2014/main" id="{1C883F4B-C457-4E9A-B092-5632E7600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600575"/>
            <a:ext cx="285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526179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526179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526179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526179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526179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526179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526179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526179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526179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5261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526179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179"/>
                </a:solidFill>
                <a:latin typeface="Arial"/>
                <a:ea typeface="Arial"/>
                <a:cs typeface="Arial"/>
              </a:rPr>
              <a:t>Review open roles and overtime in D01 before approving next month's staffing plan.</a:t>
            </a:r>
          </a:p>
        </p:txBody>
      </p:sp>
    </p:spTree>
    <p:extLst>
      <p:ext uri="{BB962C8B-B14F-4D97-AF65-F5344CB8AC3E}">
        <p14:creationId xmlns:p14="http://schemas.microsoft.com/office/powerpoint/2010/main" val="40658288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12363D9-0749-435C-8540-59C156DFA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8246"/>
          </a:bodyPr>
          <a:lstStyle xmlns:a="http://schemas.openxmlformats.org/drawingml/2006/main">
            <a:defPPr algn="l">
              <a:defRPr sz="300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defPPr>
            <a:lvl1pPr algn="l">
              <a:defRPr sz="300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lvl1pPr>
            <a:lvl2pPr algn="l">
              <a:defRPr sz="300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lvl2pPr>
            <a:lvl3pPr algn="l">
              <a:defRPr sz="300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lvl3pPr>
            <a:lvl4pPr algn="l">
              <a:defRPr sz="300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lvl4pPr>
            <a:lvl5pPr algn="l">
              <a:defRPr sz="300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lvl5pPr>
            <a:lvl6pPr algn="l">
              <a:defRPr sz="300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lvl6pPr>
            <a:lvl7pPr algn="l">
              <a:defRPr sz="300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lvl7pPr>
            <a:lvl8pPr algn="l">
              <a:defRPr sz="300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lvl8pPr>
            <a:lvl9pPr algn="l">
              <a:defRPr sz="300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4213D"/>
                </a:solidFill>
                <a:latin typeface="Arial"/>
                <a:ea typeface="Arial"/>
                <a:cs typeface="Arial"/>
              </a:rPr>
              <a:t>September net profit was INR 14.99m on INR 80.27m revenue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B7001C5A-7422-4119-AE2B-160AAA8B4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04900"/>
            <a:ext cx="10744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>
                <a:solidFill>
                  <a:srgbClr val="526179"/>
                </a:solidFill>
                <a:latin typeface="Arial"/>
                <a:ea typeface="Arial"/>
                <a:cs typeface="Arial"/>
              </a:defRPr>
            </a:defPPr>
            <a:lvl1pPr algn="l">
              <a:defRPr sz="1500">
                <a:solidFill>
                  <a:srgbClr val="526179"/>
                </a:solidFill>
                <a:latin typeface="Arial"/>
                <a:ea typeface="Arial"/>
                <a:cs typeface="Arial"/>
              </a:defRPr>
            </a:lvl1pPr>
            <a:lvl2pPr algn="l">
              <a:defRPr sz="1500">
                <a:solidFill>
                  <a:srgbClr val="526179"/>
                </a:solidFill>
                <a:latin typeface="Arial"/>
                <a:ea typeface="Arial"/>
                <a:cs typeface="Arial"/>
              </a:defRPr>
            </a:lvl2pPr>
            <a:lvl3pPr algn="l">
              <a:defRPr sz="1500">
                <a:solidFill>
                  <a:srgbClr val="526179"/>
                </a:solidFill>
                <a:latin typeface="Arial"/>
                <a:ea typeface="Arial"/>
                <a:cs typeface="Arial"/>
              </a:defRPr>
            </a:lvl3pPr>
            <a:lvl4pPr algn="l">
              <a:defRPr sz="1500">
                <a:solidFill>
                  <a:srgbClr val="526179"/>
                </a:solidFill>
                <a:latin typeface="Arial"/>
                <a:ea typeface="Arial"/>
                <a:cs typeface="Arial"/>
              </a:defRPr>
            </a:lvl4pPr>
            <a:lvl5pPr algn="l">
              <a:defRPr sz="1500">
                <a:solidFill>
                  <a:srgbClr val="526179"/>
                </a:solidFill>
                <a:latin typeface="Arial"/>
                <a:ea typeface="Arial"/>
                <a:cs typeface="Arial"/>
              </a:defRPr>
            </a:lvl5pPr>
            <a:lvl6pPr algn="l">
              <a:defRPr sz="1500">
                <a:solidFill>
                  <a:srgbClr val="526179"/>
                </a:solidFill>
                <a:latin typeface="Arial"/>
                <a:ea typeface="Arial"/>
                <a:cs typeface="Arial"/>
              </a:defRPr>
            </a:lvl6pPr>
            <a:lvl7pPr algn="l">
              <a:defRPr sz="1500">
                <a:solidFill>
                  <a:srgbClr val="526179"/>
                </a:solidFill>
                <a:latin typeface="Arial"/>
                <a:ea typeface="Arial"/>
                <a:cs typeface="Arial"/>
              </a:defRPr>
            </a:lvl7pPr>
            <a:lvl8pPr algn="l">
              <a:defRPr sz="1500">
                <a:solidFill>
                  <a:srgbClr val="526179"/>
                </a:solidFill>
                <a:latin typeface="Arial"/>
                <a:ea typeface="Arial"/>
                <a:cs typeface="Arial"/>
              </a:defRPr>
            </a:lvl8pPr>
            <a:lvl9pPr algn="l">
              <a:defRPr sz="1500">
                <a:solidFill>
                  <a:srgbClr val="5261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>
                <a:solidFill>
                  <a:srgbClr val="526179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26179"/>
                </a:solidFill>
                <a:latin typeface="Arial"/>
                <a:ea typeface="Arial"/>
                <a:cs typeface="Arial"/>
              </a:rPr>
              <a:t>Ledger-based P&amp;L and cash movement</a:t>
            </a:r>
          </a:p>
        </p:txBody>
      </p:sp>
      <p:sp>
        <p:nvSpPr>
          <p:cNvPr id="3" name="data-cutoff-footer">
            <a:extLst xmlns:a="http://schemas.openxmlformats.org/drawingml/2006/main">
              <a:ext uri="{FF2B5EF4-FFF2-40B4-BE49-F238E27FC236}">
                <a16:creationId xmlns:a16="http://schemas.microsoft.com/office/drawing/2014/main" id="{68ABB29D-77F0-4AAD-B501-3F0639806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>
                <a:solidFill>
                  <a:srgbClr val="526179"/>
                </a:solidFill>
                <a:latin typeface="Arial"/>
                <a:ea typeface="Arial"/>
                <a:cs typeface="Arial"/>
              </a:defRPr>
            </a:defPPr>
            <a:lvl1pPr algn="l">
              <a:defRPr sz="1125">
                <a:solidFill>
                  <a:srgbClr val="526179"/>
                </a:solidFill>
                <a:latin typeface="Arial"/>
                <a:ea typeface="Arial"/>
                <a:cs typeface="Arial"/>
              </a:defRPr>
            </a:lvl1pPr>
            <a:lvl2pPr algn="l">
              <a:defRPr sz="1125">
                <a:solidFill>
                  <a:srgbClr val="526179"/>
                </a:solidFill>
                <a:latin typeface="Arial"/>
                <a:ea typeface="Arial"/>
                <a:cs typeface="Arial"/>
              </a:defRPr>
            </a:lvl2pPr>
            <a:lvl3pPr algn="l">
              <a:defRPr sz="1125">
                <a:solidFill>
                  <a:srgbClr val="526179"/>
                </a:solidFill>
                <a:latin typeface="Arial"/>
                <a:ea typeface="Arial"/>
                <a:cs typeface="Arial"/>
              </a:defRPr>
            </a:lvl3pPr>
            <a:lvl4pPr algn="l">
              <a:defRPr sz="1125">
                <a:solidFill>
                  <a:srgbClr val="526179"/>
                </a:solidFill>
                <a:latin typeface="Arial"/>
                <a:ea typeface="Arial"/>
                <a:cs typeface="Arial"/>
              </a:defRPr>
            </a:lvl4pPr>
            <a:lvl5pPr algn="l">
              <a:defRPr sz="1125">
                <a:solidFill>
                  <a:srgbClr val="526179"/>
                </a:solidFill>
                <a:latin typeface="Arial"/>
                <a:ea typeface="Arial"/>
                <a:cs typeface="Arial"/>
              </a:defRPr>
            </a:lvl5pPr>
            <a:lvl6pPr algn="l">
              <a:defRPr sz="1125">
                <a:solidFill>
                  <a:srgbClr val="526179"/>
                </a:solidFill>
                <a:latin typeface="Arial"/>
                <a:ea typeface="Arial"/>
                <a:cs typeface="Arial"/>
              </a:defRPr>
            </a:lvl6pPr>
            <a:lvl7pPr algn="l">
              <a:defRPr sz="1125">
                <a:solidFill>
                  <a:srgbClr val="526179"/>
                </a:solidFill>
                <a:latin typeface="Arial"/>
                <a:ea typeface="Arial"/>
                <a:cs typeface="Arial"/>
              </a:defRPr>
            </a:lvl7pPr>
            <a:lvl8pPr algn="l">
              <a:defRPr sz="1125">
                <a:solidFill>
                  <a:srgbClr val="526179"/>
                </a:solidFill>
                <a:latin typeface="Arial"/>
                <a:ea typeface="Arial"/>
                <a:cs typeface="Arial"/>
              </a:defRPr>
            </a:lvl8pPr>
            <a:lvl9pPr algn="l">
              <a:defRPr sz="1125">
                <a:solidFill>
                  <a:srgbClr val="5261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>
                <a:solidFill>
                  <a:srgbClr val="526179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26179"/>
                </a:solidFill>
                <a:latin typeface="Arial"/>
                <a:ea typeface="Arial"/>
                <a:cs typeface="Arial"/>
              </a:rPr>
              <a:t>Fictional Zenith Nova training data  |  Source cutoff: 30 Sep 2026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7212CDFB-8553-46C6-9BC3-91C4417CF97E}"/>
              </a:ext>
            </a:extLst>
          </p:cNvPr>
          <p:cNvGraphicFramePr/>
          <p:nvPr/>
        </p:nvGraphicFramePr>
        <p:xfrm>
          <a:off xmlns:a="http://schemas.openxmlformats.org/drawingml/2006/main" x="685800" y="1685925"/>
          <a:ext xmlns:a="http://schemas.openxmlformats.org/drawingml/2006/main" cx="7715250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fa620fc620b48aa"/>
          </a:graphicData>
        </a:graphic>
      </p:graphicFrame>
      <p:sp>
        <p:nvSpPr>
          <p:cNvPr id="5" name="note-210-922">
            <a:extLst xmlns:a="http://schemas.openxmlformats.org/drawingml/2006/main">
              <a:ext uri="{FF2B5EF4-FFF2-40B4-BE49-F238E27FC236}">
                <a16:creationId xmlns:a16="http://schemas.microsoft.com/office/drawing/2014/main" id="{A6509DC4-76F6-450F-B000-35E71D5B5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000250"/>
            <a:ext cx="2476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17C78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117C78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117C78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117C78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117C78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117C78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117C78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117C78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117C78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117C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17C7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7C78"/>
                </a:solidFill>
                <a:latin typeface="Arial"/>
                <a:ea typeface="Arial"/>
                <a:cs typeface="Arial"/>
              </a:rPr>
              <a:t>Net margin</a:t>
            </a:r>
          </a:p>
          <a:p xmlns:a="http://schemas.openxmlformats.org/drawingml/2006/main">
            <a:pPr algn="l">
              <a:defRPr sz="1650" b="1">
                <a:solidFill>
                  <a:srgbClr val="117C7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7C78"/>
                </a:solidFill>
                <a:latin typeface="Arial"/>
                <a:ea typeface="Arial"/>
                <a:cs typeface="Arial"/>
              </a:rPr>
              <a:t>18.7%</a:t>
            </a:r>
          </a:p>
        </p:txBody>
      </p:sp>
      <p:sp>
        <p:nvSpPr>
          <p:cNvPr id="6" name="note-327-922">
            <a:extLst xmlns:a="http://schemas.openxmlformats.org/drawingml/2006/main">
              <a:ext uri="{FF2B5EF4-FFF2-40B4-BE49-F238E27FC236}">
                <a16:creationId xmlns:a16="http://schemas.microsoft.com/office/drawing/2014/main" id="{8C3C18EF-456C-43A7-916A-94F535E65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114675"/>
            <a:ext cx="2476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213D"/>
                </a:solidFill>
                <a:latin typeface="Arial"/>
                <a:ea typeface="Arial"/>
                <a:cs typeface="Arial"/>
              </a:rPr>
              <a:t>Cash-in</a:t>
            </a:r>
          </a:p>
          <a:p xmlns:a="http://schemas.openxmlformats.org/drawingml/2006/main">
            <a:pPr algn="l">
              <a:defRPr sz="1575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213D"/>
                </a:solidFill>
                <a:latin typeface="Arial"/>
                <a:ea typeface="Arial"/>
                <a:cs typeface="Arial"/>
              </a:rPr>
              <a:t>INR 84.67m</a:t>
            </a:r>
          </a:p>
        </p:txBody>
      </p:sp>
      <p:sp>
        <p:nvSpPr>
          <p:cNvPr id="7" name="note-429-922">
            <a:extLst xmlns:a="http://schemas.openxmlformats.org/drawingml/2006/main">
              <a:ext uri="{FF2B5EF4-FFF2-40B4-BE49-F238E27FC236}">
                <a16:creationId xmlns:a16="http://schemas.microsoft.com/office/drawing/2014/main" id="{8ACFDF11-9BC0-4FC5-BC91-09CB67B77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086225"/>
            <a:ext cx="2476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213D"/>
                </a:solidFill>
                <a:latin typeface="Arial"/>
                <a:ea typeface="Arial"/>
                <a:cs typeface="Arial"/>
              </a:rPr>
              <a:t>Cash-out</a:t>
            </a:r>
          </a:p>
          <a:p xmlns:a="http://schemas.openxmlformats.org/drawingml/2006/main">
            <a:pPr algn="l">
              <a:defRPr sz="1575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213D"/>
                </a:solidFill>
                <a:latin typeface="Arial"/>
                <a:ea typeface="Arial"/>
                <a:cs typeface="Arial"/>
              </a:rPr>
              <a:t>INR 68.68m</a:t>
            </a:r>
          </a:p>
        </p:txBody>
      </p:sp>
      <p:sp>
        <p:nvSpPr>
          <p:cNvPr id="8" name="note-538-922">
            <a:extLst xmlns:a="http://schemas.openxmlformats.org/drawingml/2006/main">
              <a:ext uri="{FF2B5EF4-FFF2-40B4-BE49-F238E27FC236}">
                <a16:creationId xmlns:a16="http://schemas.microsoft.com/office/drawing/2014/main" id="{2D5AD0E0-D0BA-4B96-8633-022F1EB7A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5124450"/>
            <a:ext cx="2571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526179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526179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526179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526179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526179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526179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526179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526179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526179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5261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5261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179"/>
                </a:solidFill>
                <a:latin typeface="Arial"/>
                <a:ea typeface="Arial"/>
                <a:cs typeface="Arial"/>
              </a:rPr>
              <a:t>Net ledger movement: +INR 15.98m. This is not a bank closing balance.</a:t>
            </a:r>
          </a:p>
        </p:txBody>
      </p:sp>
    </p:spTree>
    <p:extLst>
      <p:ext uri="{BB962C8B-B14F-4D97-AF65-F5344CB8AC3E}">
        <p14:creationId xmlns:p14="http://schemas.microsoft.com/office/powerpoint/2010/main" val="56969379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81BAC54-7E6C-45E3-A5C8-1B941772E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00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defPPr>
            <a:lvl1pPr algn="l">
              <a:defRPr sz="300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lvl1pPr>
            <a:lvl2pPr algn="l">
              <a:defRPr sz="300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lvl2pPr>
            <a:lvl3pPr algn="l">
              <a:defRPr sz="300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lvl3pPr>
            <a:lvl4pPr algn="l">
              <a:defRPr sz="300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lvl4pPr>
            <a:lvl5pPr algn="l">
              <a:defRPr sz="300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lvl5pPr>
            <a:lvl6pPr algn="l">
              <a:defRPr sz="300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lvl6pPr>
            <a:lvl7pPr algn="l">
              <a:defRPr sz="300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lvl7pPr>
            <a:lvl8pPr algn="l">
              <a:defRPr sz="300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lvl8pPr>
            <a:lvl9pPr algn="l">
              <a:defRPr sz="300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4213D"/>
                </a:solidFill>
                <a:latin typeface="Arial"/>
                <a:ea typeface="Arial"/>
                <a:cs typeface="Arial"/>
              </a:rPr>
              <a:t>INR 27.11m of INR 139.39m receivables was past due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6FD80A58-6E5E-4A11-82E8-546B3D8AD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04900"/>
            <a:ext cx="10744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>
                <a:solidFill>
                  <a:srgbClr val="526179"/>
                </a:solidFill>
                <a:latin typeface="Arial"/>
                <a:ea typeface="Arial"/>
                <a:cs typeface="Arial"/>
              </a:defRPr>
            </a:defPPr>
            <a:lvl1pPr algn="l">
              <a:defRPr sz="1500">
                <a:solidFill>
                  <a:srgbClr val="526179"/>
                </a:solidFill>
                <a:latin typeface="Arial"/>
                <a:ea typeface="Arial"/>
                <a:cs typeface="Arial"/>
              </a:defRPr>
            </a:lvl1pPr>
            <a:lvl2pPr algn="l">
              <a:defRPr sz="1500">
                <a:solidFill>
                  <a:srgbClr val="526179"/>
                </a:solidFill>
                <a:latin typeface="Arial"/>
                <a:ea typeface="Arial"/>
                <a:cs typeface="Arial"/>
              </a:defRPr>
            </a:lvl2pPr>
            <a:lvl3pPr algn="l">
              <a:defRPr sz="1500">
                <a:solidFill>
                  <a:srgbClr val="526179"/>
                </a:solidFill>
                <a:latin typeface="Arial"/>
                <a:ea typeface="Arial"/>
                <a:cs typeface="Arial"/>
              </a:defRPr>
            </a:lvl3pPr>
            <a:lvl4pPr algn="l">
              <a:defRPr sz="1500">
                <a:solidFill>
                  <a:srgbClr val="526179"/>
                </a:solidFill>
                <a:latin typeface="Arial"/>
                <a:ea typeface="Arial"/>
                <a:cs typeface="Arial"/>
              </a:defRPr>
            </a:lvl4pPr>
            <a:lvl5pPr algn="l">
              <a:defRPr sz="1500">
                <a:solidFill>
                  <a:srgbClr val="526179"/>
                </a:solidFill>
                <a:latin typeface="Arial"/>
                <a:ea typeface="Arial"/>
                <a:cs typeface="Arial"/>
              </a:defRPr>
            </a:lvl5pPr>
            <a:lvl6pPr algn="l">
              <a:defRPr sz="1500">
                <a:solidFill>
                  <a:srgbClr val="526179"/>
                </a:solidFill>
                <a:latin typeface="Arial"/>
                <a:ea typeface="Arial"/>
                <a:cs typeface="Arial"/>
              </a:defRPr>
            </a:lvl6pPr>
            <a:lvl7pPr algn="l">
              <a:defRPr sz="1500">
                <a:solidFill>
                  <a:srgbClr val="526179"/>
                </a:solidFill>
                <a:latin typeface="Arial"/>
                <a:ea typeface="Arial"/>
                <a:cs typeface="Arial"/>
              </a:defRPr>
            </a:lvl7pPr>
            <a:lvl8pPr algn="l">
              <a:defRPr sz="1500">
                <a:solidFill>
                  <a:srgbClr val="526179"/>
                </a:solidFill>
                <a:latin typeface="Arial"/>
                <a:ea typeface="Arial"/>
                <a:cs typeface="Arial"/>
              </a:defRPr>
            </a:lvl8pPr>
            <a:lvl9pPr algn="l">
              <a:defRPr sz="1500">
                <a:solidFill>
                  <a:srgbClr val="5261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>
                <a:solidFill>
                  <a:srgbClr val="526179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26179"/>
                </a:solidFill>
                <a:latin typeface="Arial"/>
                <a:ea typeface="Arial"/>
                <a:cs typeface="Arial"/>
              </a:rPr>
              <a:t>Ageing at 30 September 2026</a:t>
            </a:r>
          </a:p>
        </p:txBody>
      </p:sp>
      <p:sp>
        <p:nvSpPr>
          <p:cNvPr id="3" name="data-cutoff-footer">
            <a:extLst xmlns:a="http://schemas.openxmlformats.org/drawingml/2006/main">
              <a:ext uri="{FF2B5EF4-FFF2-40B4-BE49-F238E27FC236}">
                <a16:creationId xmlns:a16="http://schemas.microsoft.com/office/drawing/2014/main" id="{C99A8B2B-DE2E-4CFB-AD61-49BFE6C61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>
                <a:solidFill>
                  <a:srgbClr val="526179"/>
                </a:solidFill>
                <a:latin typeface="Arial"/>
                <a:ea typeface="Arial"/>
                <a:cs typeface="Arial"/>
              </a:defRPr>
            </a:defPPr>
            <a:lvl1pPr algn="l">
              <a:defRPr sz="1125">
                <a:solidFill>
                  <a:srgbClr val="526179"/>
                </a:solidFill>
                <a:latin typeface="Arial"/>
                <a:ea typeface="Arial"/>
                <a:cs typeface="Arial"/>
              </a:defRPr>
            </a:lvl1pPr>
            <a:lvl2pPr algn="l">
              <a:defRPr sz="1125">
                <a:solidFill>
                  <a:srgbClr val="526179"/>
                </a:solidFill>
                <a:latin typeface="Arial"/>
                <a:ea typeface="Arial"/>
                <a:cs typeface="Arial"/>
              </a:defRPr>
            </a:lvl2pPr>
            <a:lvl3pPr algn="l">
              <a:defRPr sz="1125">
                <a:solidFill>
                  <a:srgbClr val="526179"/>
                </a:solidFill>
                <a:latin typeface="Arial"/>
                <a:ea typeface="Arial"/>
                <a:cs typeface="Arial"/>
              </a:defRPr>
            </a:lvl3pPr>
            <a:lvl4pPr algn="l">
              <a:defRPr sz="1125">
                <a:solidFill>
                  <a:srgbClr val="526179"/>
                </a:solidFill>
                <a:latin typeface="Arial"/>
                <a:ea typeface="Arial"/>
                <a:cs typeface="Arial"/>
              </a:defRPr>
            </a:lvl4pPr>
            <a:lvl5pPr algn="l">
              <a:defRPr sz="1125">
                <a:solidFill>
                  <a:srgbClr val="526179"/>
                </a:solidFill>
                <a:latin typeface="Arial"/>
                <a:ea typeface="Arial"/>
                <a:cs typeface="Arial"/>
              </a:defRPr>
            </a:lvl5pPr>
            <a:lvl6pPr algn="l">
              <a:defRPr sz="1125">
                <a:solidFill>
                  <a:srgbClr val="526179"/>
                </a:solidFill>
                <a:latin typeface="Arial"/>
                <a:ea typeface="Arial"/>
                <a:cs typeface="Arial"/>
              </a:defRPr>
            </a:lvl6pPr>
            <a:lvl7pPr algn="l">
              <a:defRPr sz="1125">
                <a:solidFill>
                  <a:srgbClr val="526179"/>
                </a:solidFill>
                <a:latin typeface="Arial"/>
                <a:ea typeface="Arial"/>
                <a:cs typeface="Arial"/>
              </a:defRPr>
            </a:lvl7pPr>
            <a:lvl8pPr algn="l">
              <a:defRPr sz="1125">
                <a:solidFill>
                  <a:srgbClr val="526179"/>
                </a:solidFill>
                <a:latin typeface="Arial"/>
                <a:ea typeface="Arial"/>
                <a:cs typeface="Arial"/>
              </a:defRPr>
            </a:lvl8pPr>
            <a:lvl9pPr algn="l">
              <a:defRPr sz="1125">
                <a:solidFill>
                  <a:srgbClr val="5261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>
                <a:solidFill>
                  <a:srgbClr val="526179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26179"/>
                </a:solidFill>
                <a:latin typeface="Arial"/>
                <a:ea typeface="Arial"/>
                <a:cs typeface="Arial"/>
              </a:rPr>
              <a:t>Fictional Zenith Nova training data  |  Source cutoff: 30 Sep 2026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ACBD2858-44FF-424D-86C8-4B17469A7724}"/>
              </a:ext>
            </a:extLst>
          </p:cNvPr>
          <p:cNvGraphicFramePr/>
          <p:nvPr/>
        </p:nvGraphicFramePr>
        <p:xfrm>
          <a:off xmlns:a="http://schemas.openxmlformats.org/drawingml/2006/main" x="704850" y="1714500"/>
          <a:ext xmlns:a="http://schemas.openxmlformats.org/drawingml/2006/main" cx="7524750" cy="39528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40acbee15434fe6"/>
          </a:graphicData>
        </a:graphic>
      </p:graphicFrame>
      <p:sp>
        <p:nvSpPr>
          <p:cNvPr id="5" name="note-235-913">
            <a:extLst xmlns:a="http://schemas.openxmlformats.org/drawingml/2006/main">
              <a:ext uri="{FF2B5EF4-FFF2-40B4-BE49-F238E27FC236}">
                <a16:creationId xmlns:a16="http://schemas.microsoft.com/office/drawing/2014/main" id="{186D9805-293B-4EA3-9756-185B7E13E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2238375"/>
            <a:ext cx="2571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D17B0F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D17B0F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D17B0F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D17B0F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D17B0F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D17B0F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D17B0F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D17B0F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D17B0F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D17B0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D17B0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D17B0F"/>
                </a:solidFill>
                <a:latin typeface="Arial"/>
                <a:ea typeface="Arial"/>
                <a:cs typeface="Arial"/>
              </a:rPr>
              <a:t>Past due</a:t>
            </a:r>
          </a:p>
          <a:p xmlns:a="http://schemas.openxmlformats.org/drawingml/2006/main">
            <a:pPr algn="l">
              <a:defRPr sz="1875" b="1">
                <a:solidFill>
                  <a:srgbClr val="D17B0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D17B0F"/>
                </a:solidFill>
                <a:latin typeface="Arial"/>
                <a:ea typeface="Arial"/>
                <a:cs typeface="Arial"/>
              </a:rPr>
              <a:t>INR 27.11m</a:t>
            </a:r>
          </a:p>
        </p:txBody>
      </p:sp>
      <p:sp>
        <p:nvSpPr>
          <p:cNvPr id="6" name="note-357-913">
            <a:extLst xmlns:a="http://schemas.openxmlformats.org/drawingml/2006/main">
              <a:ext uri="{FF2B5EF4-FFF2-40B4-BE49-F238E27FC236}">
                <a16:creationId xmlns:a16="http://schemas.microsoft.com/office/drawing/2014/main" id="{3ECAC619-952F-4018-AAA2-7C826AF76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3400425"/>
            <a:ext cx="2571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13D"/>
                </a:solidFill>
                <a:latin typeface="Arial"/>
                <a:ea typeface="Arial"/>
                <a:cs typeface="Arial"/>
              </a:rPr>
              <a:t>90+ days</a:t>
            </a:r>
          </a:p>
          <a:p xmlns:a="http://schemas.openxmlformats.org/drawingml/2006/main">
            <a:pPr algn="l">
              <a:defRPr sz="165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13D"/>
                </a:solidFill>
                <a:latin typeface="Arial"/>
                <a:ea typeface="Arial"/>
                <a:cs typeface="Arial"/>
              </a:rPr>
              <a:t>INR 3.04m</a:t>
            </a:r>
          </a:p>
        </p:txBody>
      </p:sp>
      <p:sp>
        <p:nvSpPr>
          <p:cNvPr id="7" name="note-472-913">
            <a:extLst xmlns:a="http://schemas.openxmlformats.org/drawingml/2006/main">
              <a:ext uri="{FF2B5EF4-FFF2-40B4-BE49-F238E27FC236}">
                <a16:creationId xmlns:a16="http://schemas.microsoft.com/office/drawing/2014/main" id="{D1603F1B-C320-4091-81F0-DB4FF61A9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4495800"/>
            <a:ext cx="2571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213D"/>
                </a:solidFill>
                <a:latin typeface="Arial"/>
                <a:ea typeface="Arial"/>
                <a:cs typeface="Arial"/>
              </a:rPr>
              <a:t>DSO</a:t>
            </a:r>
          </a:p>
          <a:p xmlns:a="http://schemas.openxmlformats.org/drawingml/2006/main">
            <a:pPr algn="l">
              <a:defRPr sz="1575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213D"/>
                </a:solidFill>
                <a:latin typeface="Arial"/>
                <a:ea typeface="Arial"/>
                <a:cs typeface="Arial"/>
              </a:rPr>
              <a:t>48.0 days</a:t>
            </a:r>
          </a:p>
        </p:txBody>
      </p:sp>
      <p:sp>
        <p:nvSpPr>
          <p:cNvPr id="8" name="note-572-913">
            <a:extLst xmlns:a="http://schemas.openxmlformats.org/drawingml/2006/main">
              <a:ext uri="{FF2B5EF4-FFF2-40B4-BE49-F238E27FC236}">
                <a16:creationId xmlns:a16="http://schemas.microsoft.com/office/drawing/2014/main" id="{DC9C2975-95C7-4BE6-ABD2-B5FC75424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5448300"/>
            <a:ext cx="2571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285"/>
          </a:bodyPr>
          <a:lstStyle xmlns:a="http://schemas.openxmlformats.org/drawingml/2006/main">
            <a:defPPr algn="l">
              <a:defRPr sz="1275" b="0">
                <a:solidFill>
                  <a:srgbClr val="526179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526179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526179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526179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526179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526179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526179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526179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526179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5261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5261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179"/>
                </a:solidFill>
                <a:latin typeface="Arial"/>
                <a:ea typeface="Arial"/>
                <a:cs typeface="Arial"/>
              </a:rPr>
              <a:t>Prioritize 90+ and 61-90 day balances in the next collections review.</a:t>
            </a:r>
          </a:p>
        </p:txBody>
      </p:sp>
    </p:spTree>
    <p:extLst>
      <p:ext uri="{BB962C8B-B14F-4D97-AF65-F5344CB8AC3E}">
        <p14:creationId xmlns:p14="http://schemas.microsoft.com/office/powerpoint/2010/main" val="83861582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0330A7D-5FBE-46B6-A1F9-43AC9A6EE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5681"/>
          </a:bodyPr>
          <a:lstStyle xmlns:a="http://schemas.openxmlformats.org/drawingml/2006/main">
            <a:defPPr algn="l">
              <a:defRPr sz="300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defPPr>
            <a:lvl1pPr algn="l">
              <a:defRPr sz="300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lvl1pPr>
            <a:lvl2pPr algn="l">
              <a:defRPr sz="300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lvl2pPr>
            <a:lvl3pPr algn="l">
              <a:defRPr sz="300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lvl3pPr>
            <a:lvl4pPr algn="l">
              <a:defRPr sz="300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lvl4pPr>
            <a:lvl5pPr algn="l">
              <a:defRPr sz="300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lvl5pPr>
            <a:lvl6pPr algn="l">
              <a:defRPr sz="300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lvl6pPr>
            <a:lvl7pPr algn="l">
              <a:defRPr sz="300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lvl7pPr>
            <a:lvl8pPr algn="l">
              <a:defRPr sz="300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lvl8pPr>
            <a:lvl9pPr algn="l">
              <a:defRPr sz="300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4213D"/>
                </a:solidFill>
                <a:latin typeface="Arial"/>
                <a:ea typeface="Arial"/>
                <a:cs typeface="Arial"/>
              </a:rPr>
              <a:t>T12 has 21 overdue tasks; T01 and T02 lead story-point output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8113F969-8C07-4436-A13E-CC0265116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04900"/>
            <a:ext cx="10744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>
                <a:solidFill>
                  <a:srgbClr val="526179"/>
                </a:solidFill>
                <a:latin typeface="Arial"/>
                <a:ea typeface="Arial"/>
                <a:cs typeface="Arial"/>
              </a:defRPr>
            </a:defPPr>
            <a:lvl1pPr algn="l">
              <a:defRPr sz="1500">
                <a:solidFill>
                  <a:srgbClr val="526179"/>
                </a:solidFill>
                <a:latin typeface="Arial"/>
                <a:ea typeface="Arial"/>
                <a:cs typeface="Arial"/>
              </a:defRPr>
            </a:lvl1pPr>
            <a:lvl2pPr algn="l">
              <a:defRPr sz="1500">
                <a:solidFill>
                  <a:srgbClr val="526179"/>
                </a:solidFill>
                <a:latin typeface="Arial"/>
                <a:ea typeface="Arial"/>
                <a:cs typeface="Arial"/>
              </a:defRPr>
            </a:lvl2pPr>
            <a:lvl3pPr algn="l">
              <a:defRPr sz="1500">
                <a:solidFill>
                  <a:srgbClr val="526179"/>
                </a:solidFill>
                <a:latin typeface="Arial"/>
                <a:ea typeface="Arial"/>
                <a:cs typeface="Arial"/>
              </a:defRPr>
            </a:lvl3pPr>
            <a:lvl4pPr algn="l">
              <a:defRPr sz="1500">
                <a:solidFill>
                  <a:srgbClr val="526179"/>
                </a:solidFill>
                <a:latin typeface="Arial"/>
                <a:ea typeface="Arial"/>
                <a:cs typeface="Arial"/>
              </a:defRPr>
            </a:lvl4pPr>
            <a:lvl5pPr algn="l">
              <a:defRPr sz="1500">
                <a:solidFill>
                  <a:srgbClr val="526179"/>
                </a:solidFill>
                <a:latin typeface="Arial"/>
                <a:ea typeface="Arial"/>
                <a:cs typeface="Arial"/>
              </a:defRPr>
            </a:lvl5pPr>
            <a:lvl6pPr algn="l">
              <a:defRPr sz="1500">
                <a:solidFill>
                  <a:srgbClr val="526179"/>
                </a:solidFill>
                <a:latin typeface="Arial"/>
                <a:ea typeface="Arial"/>
                <a:cs typeface="Arial"/>
              </a:defRPr>
            </a:lvl6pPr>
            <a:lvl7pPr algn="l">
              <a:defRPr sz="1500">
                <a:solidFill>
                  <a:srgbClr val="526179"/>
                </a:solidFill>
                <a:latin typeface="Arial"/>
                <a:ea typeface="Arial"/>
                <a:cs typeface="Arial"/>
              </a:defRPr>
            </a:lvl7pPr>
            <a:lvl8pPr algn="l">
              <a:defRPr sz="1500">
                <a:solidFill>
                  <a:srgbClr val="526179"/>
                </a:solidFill>
                <a:latin typeface="Arial"/>
                <a:ea typeface="Arial"/>
                <a:cs typeface="Arial"/>
              </a:defRPr>
            </a:lvl8pPr>
            <a:lvl9pPr algn="l">
              <a:defRPr sz="1500">
                <a:solidFill>
                  <a:srgbClr val="5261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>
                <a:solidFill>
                  <a:srgbClr val="526179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26179"/>
                </a:solidFill>
                <a:latin typeface="Arial"/>
                <a:ea typeface="Arial"/>
                <a:cs typeface="Arial"/>
              </a:rPr>
              <a:t>Delivery risks and output in SP-01</a:t>
            </a:r>
          </a:p>
        </p:txBody>
      </p:sp>
      <p:sp>
        <p:nvSpPr>
          <p:cNvPr id="3" name="data-cutoff-footer">
            <a:extLst xmlns:a="http://schemas.openxmlformats.org/drawingml/2006/main">
              <a:ext uri="{FF2B5EF4-FFF2-40B4-BE49-F238E27FC236}">
                <a16:creationId xmlns:a16="http://schemas.microsoft.com/office/drawing/2014/main" id="{880E3567-16EC-4865-8DE6-370F1F9EE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>
                <a:solidFill>
                  <a:srgbClr val="526179"/>
                </a:solidFill>
                <a:latin typeface="Arial"/>
                <a:ea typeface="Arial"/>
                <a:cs typeface="Arial"/>
              </a:defRPr>
            </a:defPPr>
            <a:lvl1pPr algn="l">
              <a:defRPr sz="1125">
                <a:solidFill>
                  <a:srgbClr val="526179"/>
                </a:solidFill>
                <a:latin typeface="Arial"/>
                <a:ea typeface="Arial"/>
                <a:cs typeface="Arial"/>
              </a:defRPr>
            </a:lvl1pPr>
            <a:lvl2pPr algn="l">
              <a:defRPr sz="1125">
                <a:solidFill>
                  <a:srgbClr val="526179"/>
                </a:solidFill>
                <a:latin typeface="Arial"/>
                <a:ea typeface="Arial"/>
                <a:cs typeface="Arial"/>
              </a:defRPr>
            </a:lvl2pPr>
            <a:lvl3pPr algn="l">
              <a:defRPr sz="1125">
                <a:solidFill>
                  <a:srgbClr val="526179"/>
                </a:solidFill>
                <a:latin typeface="Arial"/>
                <a:ea typeface="Arial"/>
                <a:cs typeface="Arial"/>
              </a:defRPr>
            </a:lvl3pPr>
            <a:lvl4pPr algn="l">
              <a:defRPr sz="1125">
                <a:solidFill>
                  <a:srgbClr val="526179"/>
                </a:solidFill>
                <a:latin typeface="Arial"/>
                <a:ea typeface="Arial"/>
                <a:cs typeface="Arial"/>
              </a:defRPr>
            </a:lvl4pPr>
            <a:lvl5pPr algn="l">
              <a:defRPr sz="1125">
                <a:solidFill>
                  <a:srgbClr val="526179"/>
                </a:solidFill>
                <a:latin typeface="Arial"/>
                <a:ea typeface="Arial"/>
                <a:cs typeface="Arial"/>
              </a:defRPr>
            </a:lvl5pPr>
            <a:lvl6pPr algn="l">
              <a:defRPr sz="1125">
                <a:solidFill>
                  <a:srgbClr val="526179"/>
                </a:solidFill>
                <a:latin typeface="Arial"/>
                <a:ea typeface="Arial"/>
                <a:cs typeface="Arial"/>
              </a:defRPr>
            </a:lvl6pPr>
            <a:lvl7pPr algn="l">
              <a:defRPr sz="1125">
                <a:solidFill>
                  <a:srgbClr val="526179"/>
                </a:solidFill>
                <a:latin typeface="Arial"/>
                <a:ea typeface="Arial"/>
                <a:cs typeface="Arial"/>
              </a:defRPr>
            </a:lvl7pPr>
            <a:lvl8pPr algn="l">
              <a:defRPr sz="1125">
                <a:solidFill>
                  <a:srgbClr val="526179"/>
                </a:solidFill>
                <a:latin typeface="Arial"/>
                <a:ea typeface="Arial"/>
                <a:cs typeface="Arial"/>
              </a:defRPr>
            </a:lvl8pPr>
            <a:lvl9pPr algn="l">
              <a:defRPr sz="1125">
                <a:solidFill>
                  <a:srgbClr val="5261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>
                <a:solidFill>
                  <a:srgbClr val="526179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26179"/>
                </a:solidFill>
                <a:latin typeface="Arial"/>
                <a:ea typeface="Arial"/>
                <a:cs typeface="Arial"/>
              </a:rPr>
              <a:t>Fictional Zenith Nova training data  |  Source cutoff: 30 Sep 2026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DEC9CACC-850A-4CFC-BF81-F9A7886AE330}"/>
              </a:ext>
            </a:extLst>
          </p:cNvPr>
          <p:cNvGraphicFramePr/>
          <p:nvPr/>
        </p:nvGraphicFramePr>
        <p:xfrm>
          <a:off xmlns:a="http://schemas.openxmlformats.org/drawingml/2006/main" x="685800" y="1714500"/>
          <a:ext xmlns:a="http://schemas.openxmlformats.org/drawingml/2006/main" cx="7572375" cy="39528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81ad5f435fa4126"/>
          </a:graphicData>
        </a:graphic>
      </p:graphicFrame>
      <p:sp>
        <p:nvSpPr>
          <p:cNvPr id="5" name="note-216-908">
            <a:extLst xmlns:a="http://schemas.openxmlformats.org/drawingml/2006/main">
              <a:ext uri="{FF2B5EF4-FFF2-40B4-BE49-F238E27FC236}">
                <a16:creationId xmlns:a16="http://schemas.microsoft.com/office/drawing/2014/main" id="{BEEF6D1C-28D3-44C1-94D1-D2A6CFC84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057400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D17B0F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D17B0F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D17B0F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D17B0F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D17B0F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D17B0F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D17B0F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D17B0F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D17B0F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D17B0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D17B0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D17B0F"/>
                </a:solidFill>
                <a:latin typeface="Arial"/>
                <a:ea typeface="Arial"/>
                <a:cs typeface="Arial"/>
              </a:rPr>
              <a:t>Support Tooling (T12)</a:t>
            </a:r>
          </a:p>
        </p:txBody>
      </p:sp>
      <p:sp>
        <p:nvSpPr>
          <p:cNvPr id="6" name="note-264-908">
            <a:extLst xmlns:a="http://schemas.openxmlformats.org/drawingml/2006/main">
              <a:ext uri="{FF2B5EF4-FFF2-40B4-BE49-F238E27FC236}">
                <a16:creationId xmlns:a16="http://schemas.microsoft.com/office/drawing/2014/main" id="{B6356636-4FE6-4CC1-89E3-50B22D952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514600"/>
            <a:ext cx="285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21 overdue  |  6 blocked  |  75.9% complete</a:t>
            </a:r>
          </a:p>
        </p:txBody>
      </p:sp>
      <p:sp>
        <p:nvSpPr>
          <p:cNvPr id="7" name="note-365-908">
            <a:extLst xmlns:a="http://schemas.openxmlformats.org/drawingml/2006/main">
              <a:ext uri="{FF2B5EF4-FFF2-40B4-BE49-F238E27FC236}">
                <a16:creationId xmlns:a16="http://schemas.microsoft.com/office/drawing/2014/main" id="{C6967EC2-AD7A-4385-B79A-2FEEA1C7E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476625"/>
            <a:ext cx="285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117C78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117C78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117C78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117C78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117C78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117C78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117C78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117C78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117C78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117C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117C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17C78"/>
                </a:solidFill>
                <a:latin typeface="Arial"/>
                <a:ea typeface="Arial"/>
                <a:cs typeface="Arial"/>
              </a:rPr>
              <a:t>T01: 162 points, 4.64-day cycle</a:t>
            </a:r>
          </a:p>
        </p:txBody>
      </p:sp>
      <p:sp>
        <p:nvSpPr>
          <p:cNvPr id="8" name="note-447-908">
            <a:extLst xmlns:a="http://schemas.openxmlformats.org/drawingml/2006/main">
              <a:ext uri="{FF2B5EF4-FFF2-40B4-BE49-F238E27FC236}">
                <a16:creationId xmlns:a16="http://schemas.microsoft.com/office/drawing/2014/main" id="{89B3515B-AE83-4064-8BB3-CD57F7653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257675"/>
            <a:ext cx="285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117C78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117C78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117C78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117C78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117C78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117C78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117C78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117C78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117C78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117C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117C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17C78"/>
                </a:solidFill>
                <a:latin typeface="Arial"/>
                <a:ea typeface="Arial"/>
                <a:cs typeface="Arial"/>
              </a:rPr>
              <a:t>T02: 210 points, 4.79-day cycle</a:t>
            </a:r>
          </a:p>
        </p:txBody>
      </p:sp>
      <p:sp>
        <p:nvSpPr>
          <p:cNvPr id="9" name="note-544-908">
            <a:extLst xmlns:a="http://schemas.openxmlformats.org/drawingml/2006/main">
              <a:ext uri="{FF2B5EF4-FFF2-40B4-BE49-F238E27FC236}">
                <a16:creationId xmlns:a16="http://schemas.microsoft.com/office/drawing/2014/main" id="{261D48CE-BDF6-4B81-B1CF-70E42539D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5181600"/>
            <a:ext cx="2857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526179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526179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526179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526179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526179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526179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526179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526179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526179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5261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5261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179"/>
                </a:solidFill>
                <a:latin typeface="Arial"/>
                <a:ea typeface="Arial"/>
                <a:cs typeface="Arial"/>
              </a:rPr>
              <a:t>Give T12 focused blocker review; use cycle time and work mix alongside velocity.</a:t>
            </a:r>
          </a:p>
        </p:txBody>
      </p:sp>
    </p:spTree>
    <p:extLst>
      <p:ext uri="{BB962C8B-B14F-4D97-AF65-F5344CB8AC3E}">
        <p14:creationId xmlns:p14="http://schemas.microsoft.com/office/powerpoint/2010/main" val="196474157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FFFD831-E291-4BCD-B592-227B0AAF5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5219"/>
          </a:bodyPr>
          <a:lstStyle xmlns:a="http://schemas.openxmlformats.org/drawingml/2006/main">
            <a:defPPr algn="l">
              <a:defRPr sz="300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defPPr>
            <a:lvl1pPr algn="l">
              <a:defRPr sz="300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lvl1pPr>
            <a:lvl2pPr algn="l">
              <a:defRPr sz="300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lvl2pPr>
            <a:lvl3pPr algn="l">
              <a:defRPr sz="300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lvl3pPr>
            <a:lvl4pPr algn="l">
              <a:defRPr sz="300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lvl4pPr>
            <a:lvl5pPr algn="l">
              <a:defRPr sz="300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lvl5pPr>
            <a:lvl6pPr algn="l">
              <a:defRPr sz="300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lvl6pPr>
            <a:lvl7pPr algn="l">
              <a:defRPr sz="300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lvl7pPr>
            <a:lvl8pPr algn="l">
              <a:defRPr sz="300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lvl8pPr>
            <a:lvl9pPr algn="l">
              <a:defRPr sz="300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4213D"/>
                </a:solidFill>
                <a:latin typeface="Arial"/>
                <a:ea typeface="Arial"/>
                <a:cs typeface="Arial"/>
              </a:rPr>
              <a:t>Clean controls reconcile; seeded raw findings still need review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E34D729B-67E3-452C-9BF8-D9E74463B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04900"/>
            <a:ext cx="10744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>
                <a:solidFill>
                  <a:srgbClr val="526179"/>
                </a:solidFill>
                <a:latin typeface="Arial"/>
                <a:ea typeface="Arial"/>
                <a:cs typeface="Arial"/>
              </a:defRPr>
            </a:defPPr>
            <a:lvl1pPr algn="l">
              <a:defRPr sz="1500">
                <a:solidFill>
                  <a:srgbClr val="526179"/>
                </a:solidFill>
                <a:latin typeface="Arial"/>
                <a:ea typeface="Arial"/>
                <a:cs typeface="Arial"/>
              </a:defRPr>
            </a:lvl1pPr>
            <a:lvl2pPr algn="l">
              <a:defRPr sz="1500">
                <a:solidFill>
                  <a:srgbClr val="526179"/>
                </a:solidFill>
                <a:latin typeface="Arial"/>
                <a:ea typeface="Arial"/>
                <a:cs typeface="Arial"/>
              </a:defRPr>
            </a:lvl2pPr>
            <a:lvl3pPr algn="l">
              <a:defRPr sz="1500">
                <a:solidFill>
                  <a:srgbClr val="526179"/>
                </a:solidFill>
                <a:latin typeface="Arial"/>
                <a:ea typeface="Arial"/>
                <a:cs typeface="Arial"/>
              </a:defRPr>
            </a:lvl3pPr>
            <a:lvl4pPr algn="l">
              <a:defRPr sz="1500">
                <a:solidFill>
                  <a:srgbClr val="526179"/>
                </a:solidFill>
                <a:latin typeface="Arial"/>
                <a:ea typeface="Arial"/>
                <a:cs typeface="Arial"/>
              </a:defRPr>
            </a:lvl4pPr>
            <a:lvl5pPr algn="l">
              <a:defRPr sz="1500">
                <a:solidFill>
                  <a:srgbClr val="526179"/>
                </a:solidFill>
                <a:latin typeface="Arial"/>
                <a:ea typeface="Arial"/>
                <a:cs typeface="Arial"/>
              </a:defRPr>
            </a:lvl5pPr>
            <a:lvl6pPr algn="l">
              <a:defRPr sz="1500">
                <a:solidFill>
                  <a:srgbClr val="526179"/>
                </a:solidFill>
                <a:latin typeface="Arial"/>
                <a:ea typeface="Arial"/>
                <a:cs typeface="Arial"/>
              </a:defRPr>
            </a:lvl6pPr>
            <a:lvl7pPr algn="l">
              <a:defRPr sz="1500">
                <a:solidFill>
                  <a:srgbClr val="526179"/>
                </a:solidFill>
                <a:latin typeface="Arial"/>
                <a:ea typeface="Arial"/>
                <a:cs typeface="Arial"/>
              </a:defRPr>
            </a:lvl7pPr>
            <a:lvl8pPr algn="l">
              <a:defRPr sz="1500">
                <a:solidFill>
                  <a:srgbClr val="526179"/>
                </a:solidFill>
                <a:latin typeface="Arial"/>
                <a:ea typeface="Arial"/>
                <a:cs typeface="Arial"/>
              </a:defRPr>
            </a:lvl8pPr>
            <a:lvl9pPr algn="l">
              <a:defRPr sz="1500">
                <a:solidFill>
                  <a:srgbClr val="5261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>
                <a:solidFill>
                  <a:srgbClr val="526179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26179"/>
                </a:solidFill>
                <a:latin typeface="Arial"/>
                <a:ea typeface="Arial"/>
                <a:cs typeface="Arial"/>
              </a:rPr>
              <a:t>A transparent release gate keeps the source issues visible</a:t>
            </a:r>
          </a:p>
        </p:txBody>
      </p:sp>
      <p:sp>
        <p:nvSpPr>
          <p:cNvPr id="3" name="data-cutoff-footer">
            <a:extLst xmlns:a="http://schemas.openxmlformats.org/drawingml/2006/main">
              <a:ext uri="{FF2B5EF4-FFF2-40B4-BE49-F238E27FC236}">
                <a16:creationId xmlns:a16="http://schemas.microsoft.com/office/drawing/2014/main" id="{DFB3D420-94A7-4729-BEC8-36D6993FA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>
                <a:solidFill>
                  <a:srgbClr val="526179"/>
                </a:solidFill>
                <a:latin typeface="Arial"/>
                <a:ea typeface="Arial"/>
                <a:cs typeface="Arial"/>
              </a:defRPr>
            </a:defPPr>
            <a:lvl1pPr algn="l">
              <a:defRPr sz="1125">
                <a:solidFill>
                  <a:srgbClr val="526179"/>
                </a:solidFill>
                <a:latin typeface="Arial"/>
                <a:ea typeface="Arial"/>
                <a:cs typeface="Arial"/>
              </a:defRPr>
            </a:lvl1pPr>
            <a:lvl2pPr algn="l">
              <a:defRPr sz="1125">
                <a:solidFill>
                  <a:srgbClr val="526179"/>
                </a:solidFill>
                <a:latin typeface="Arial"/>
                <a:ea typeface="Arial"/>
                <a:cs typeface="Arial"/>
              </a:defRPr>
            </a:lvl2pPr>
            <a:lvl3pPr algn="l">
              <a:defRPr sz="1125">
                <a:solidFill>
                  <a:srgbClr val="526179"/>
                </a:solidFill>
                <a:latin typeface="Arial"/>
                <a:ea typeface="Arial"/>
                <a:cs typeface="Arial"/>
              </a:defRPr>
            </a:lvl3pPr>
            <a:lvl4pPr algn="l">
              <a:defRPr sz="1125">
                <a:solidFill>
                  <a:srgbClr val="526179"/>
                </a:solidFill>
                <a:latin typeface="Arial"/>
                <a:ea typeface="Arial"/>
                <a:cs typeface="Arial"/>
              </a:defRPr>
            </a:lvl4pPr>
            <a:lvl5pPr algn="l">
              <a:defRPr sz="1125">
                <a:solidFill>
                  <a:srgbClr val="526179"/>
                </a:solidFill>
                <a:latin typeface="Arial"/>
                <a:ea typeface="Arial"/>
                <a:cs typeface="Arial"/>
              </a:defRPr>
            </a:lvl5pPr>
            <a:lvl6pPr algn="l">
              <a:defRPr sz="1125">
                <a:solidFill>
                  <a:srgbClr val="526179"/>
                </a:solidFill>
                <a:latin typeface="Arial"/>
                <a:ea typeface="Arial"/>
                <a:cs typeface="Arial"/>
              </a:defRPr>
            </a:lvl6pPr>
            <a:lvl7pPr algn="l">
              <a:defRPr sz="1125">
                <a:solidFill>
                  <a:srgbClr val="526179"/>
                </a:solidFill>
                <a:latin typeface="Arial"/>
                <a:ea typeface="Arial"/>
                <a:cs typeface="Arial"/>
              </a:defRPr>
            </a:lvl7pPr>
            <a:lvl8pPr algn="l">
              <a:defRPr sz="1125">
                <a:solidFill>
                  <a:srgbClr val="526179"/>
                </a:solidFill>
                <a:latin typeface="Arial"/>
                <a:ea typeface="Arial"/>
                <a:cs typeface="Arial"/>
              </a:defRPr>
            </a:lvl8pPr>
            <a:lvl9pPr algn="l">
              <a:defRPr sz="1125">
                <a:solidFill>
                  <a:srgbClr val="5261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>
                <a:solidFill>
                  <a:srgbClr val="526179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26179"/>
                </a:solidFill>
                <a:latin typeface="Arial"/>
                <a:ea typeface="Arial"/>
                <a:cs typeface="Arial"/>
              </a:rPr>
              <a:t>Fictional Zenith Nova training data  |  Source cutoff: 30 Sep 2026</a:t>
            </a:r>
          </a:p>
        </p:txBody>
      </p:sp>
      <p:sp>
        <p:nvSpPr>
          <p:cNvPr id="4" name="note-197-78">
            <a:extLst xmlns:a="http://schemas.openxmlformats.org/drawingml/2006/main">
              <a:ext uri="{FF2B5EF4-FFF2-40B4-BE49-F238E27FC236}">
                <a16:creationId xmlns:a16="http://schemas.microsoft.com/office/drawing/2014/main" id="{0300C6C5-6DD9-4677-99AE-42C3984D3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76425"/>
            <a:ext cx="1381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000" b="1">
                <a:solidFill>
                  <a:srgbClr val="117C78"/>
                </a:solidFill>
                <a:latin typeface="Arial"/>
                <a:ea typeface="Arial"/>
                <a:cs typeface="Arial"/>
              </a:defRPr>
            </a:defPPr>
            <a:lvl1pPr algn="l">
              <a:defRPr sz="3000" b="1">
                <a:solidFill>
                  <a:srgbClr val="117C78"/>
                </a:solidFill>
                <a:latin typeface="Arial"/>
                <a:ea typeface="Arial"/>
                <a:cs typeface="Arial"/>
              </a:defRPr>
            </a:lvl1pPr>
            <a:lvl2pPr algn="l">
              <a:defRPr sz="3000" b="1">
                <a:solidFill>
                  <a:srgbClr val="117C78"/>
                </a:solidFill>
                <a:latin typeface="Arial"/>
                <a:ea typeface="Arial"/>
                <a:cs typeface="Arial"/>
              </a:defRPr>
            </a:lvl2pPr>
            <a:lvl3pPr algn="l">
              <a:defRPr sz="3000" b="1">
                <a:solidFill>
                  <a:srgbClr val="117C78"/>
                </a:solidFill>
                <a:latin typeface="Arial"/>
                <a:ea typeface="Arial"/>
                <a:cs typeface="Arial"/>
              </a:defRPr>
            </a:lvl3pPr>
            <a:lvl4pPr algn="l">
              <a:defRPr sz="3000" b="1">
                <a:solidFill>
                  <a:srgbClr val="117C78"/>
                </a:solidFill>
                <a:latin typeface="Arial"/>
                <a:ea typeface="Arial"/>
                <a:cs typeface="Arial"/>
              </a:defRPr>
            </a:lvl4pPr>
            <a:lvl5pPr algn="l">
              <a:defRPr sz="3000" b="1">
                <a:solidFill>
                  <a:srgbClr val="117C78"/>
                </a:solidFill>
                <a:latin typeface="Arial"/>
                <a:ea typeface="Arial"/>
                <a:cs typeface="Arial"/>
              </a:defRPr>
            </a:lvl5pPr>
            <a:lvl6pPr algn="l">
              <a:defRPr sz="3000" b="1">
                <a:solidFill>
                  <a:srgbClr val="117C78"/>
                </a:solidFill>
                <a:latin typeface="Arial"/>
                <a:ea typeface="Arial"/>
                <a:cs typeface="Arial"/>
              </a:defRPr>
            </a:lvl6pPr>
            <a:lvl7pPr algn="l">
              <a:defRPr sz="3000" b="1">
                <a:solidFill>
                  <a:srgbClr val="117C78"/>
                </a:solidFill>
                <a:latin typeface="Arial"/>
                <a:ea typeface="Arial"/>
                <a:cs typeface="Arial"/>
              </a:defRPr>
            </a:lvl7pPr>
            <a:lvl8pPr algn="l">
              <a:defRPr sz="3000" b="1">
                <a:solidFill>
                  <a:srgbClr val="117C78"/>
                </a:solidFill>
                <a:latin typeface="Arial"/>
                <a:ea typeface="Arial"/>
                <a:cs typeface="Arial"/>
              </a:defRPr>
            </a:lvl8pPr>
            <a:lvl9pPr algn="l">
              <a:defRPr sz="3000" b="1">
                <a:solidFill>
                  <a:srgbClr val="117C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17C78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7C78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5" name="note-199-238">
            <a:extLst xmlns:a="http://schemas.openxmlformats.org/drawingml/2006/main">
              <a:ext uri="{FF2B5EF4-FFF2-40B4-BE49-F238E27FC236}">
                <a16:creationId xmlns:a16="http://schemas.microsoft.com/office/drawing/2014/main" id="{8B184CDC-BB18-4327-A5C6-0AD57F7E7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1895475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automated DQ checks run on each load</a:t>
            </a:r>
          </a:p>
        </p:txBody>
      </p:sp>
      <p:sp>
        <p:nvSpPr>
          <p:cNvPr id="6" name="note-197-638">
            <a:extLst xmlns:a="http://schemas.openxmlformats.org/drawingml/2006/main">
              <a:ext uri="{FF2B5EF4-FFF2-40B4-BE49-F238E27FC236}">
                <a16:creationId xmlns:a16="http://schemas.microsoft.com/office/drawing/2014/main" id="{77D5248C-C3E1-4068-9124-A6BD954CA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876425"/>
            <a:ext cx="1381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000" b="1">
                <a:solidFill>
                  <a:srgbClr val="117C78"/>
                </a:solidFill>
                <a:latin typeface="Arial"/>
                <a:ea typeface="Arial"/>
                <a:cs typeface="Arial"/>
              </a:defRPr>
            </a:defPPr>
            <a:lvl1pPr algn="l">
              <a:defRPr sz="3000" b="1">
                <a:solidFill>
                  <a:srgbClr val="117C78"/>
                </a:solidFill>
                <a:latin typeface="Arial"/>
                <a:ea typeface="Arial"/>
                <a:cs typeface="Arial"/>
              </a:defRPr>
            </a:lvl1pPr>
            <a:lvl2pPr algn="l">
              <a:defRPr sz="3000" b="1">
                <a:solidFill>
                  <a:srgbClr val="117C78"/>
                </a:solidFill>
                <a:latin typeface="Arial"/>
                <a:ea typeface="Arial"/>
                <a:cs typeface="Arial"/>
              </a:defRPr>
            </a:lvl2pPr>
            <a:lvl3pPr algn="l">
              <a:defRPr sz="3000" b="1">
                <a:solidFill>
                  <a:srgbClr val="117C78"/>
                </a:solidFill>
                <a:latin typeface="Arial"/>
                <a:ea typeface="Arial"/>
                <a:cs typeface="Arial"/>
              </a:defRPr>
            </a:lvl3pPr>
            <a:lvl4pPr algn="l">
              <a:defRPr sz="3000" b="1">
                <a:solidFill>
                  <a:srgbClr val="117C78"/>
                </a:solidFill>
                <a:latin typeface="Arial"/>
                <a:ea typeface="Arial"/>
                <a:cs typeface="Arial"/>
              </a:defRPr>
            </a:lvl4pPr>
            <a:lvl5pPr algn="l">
              <a:defRPr sz="3000" b="1">
                <a:solidFill>
                  <a:srgbClr val="117C78"/>
                </a:solidFill>
                <a:latin typeface="Arial"/>
                <a:ea typeface="Arial"/>
                <a:cs typeface="Arial"/>
              </a:defRPr>
            </a:lvl5pPr>
            <a:lvl6pPr algn="l">
              <a:defRPr sz="3000" b="1">
                <a:solidFill>
                  <a:srgbClr val="117C78"/>
                </a:solidFill>
                <a:latin typeface="Arial"/>
                <a:ea typeface="Arial"/>
                <a:cs typeface="Arial"/>
              </a:defRPr>
            </a:lvl6pPr>
            <a:lvl7pPr algn="l">
              <a:defRPr sz="3000" b="1">
                <a:solidFill>
                  <a:srgbClr val="117C78"/>
                </a:solidFill>
                <a:latin typeface="Arial"/>
                <a:ea typeface="Arial"/>
                <a:cs typeface="Arial"/>
              </a:defRPr>
            </a:lvl7pPr>
            <a:lvl8pPr algn="l">
              <a:defRPr sz="3000" b="1">
                <a:solidFill>
                  <a:srgbClr val="117C78"/>
                </a:solidFill>
                <a:latin typeface="Arial"/>
                <a:ea typeface="Arial"/>
                <a:cs typeface="Arial"/>
              </a:defRPr>
            </a:lvl8pPr>
            <a:lvl9pPr algn="l">
              <a:defRPr sz="3000" b="1">
                <a:solidFill>
                  <a:srgbClr val="117C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17C78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7C78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7" name="note-199-798">
            <a:extLst xmlns:a="http://schemas.openxmlformats.org/drawingml/2006/main">
              <a:ext uri="{FF2B5EF4-FFF2-40B4-BE49-F238E27FC236}">
                <a16:creationId xmlns:a16="http://schemas.microsoft.com/office/drawing/2014/main" id="{8BABC78C-010F-4371-BD85-7DC8B5FBF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895475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declared warehouse orphans</a:t>
            </a:r>
          </a:p>
        </p:txBody>
      </p:sp>
      <p:sp>
        <p:nvSpPr>
          <p:cNvPr id="8" name="note-323-78">
            <a:extLst xmlns:a="http://schemas.openxmlformats.org/drawingml/2006/main">
              <a:ext uri="{FF2B5EF4-FFF2-40B4-BE49-F238E27FC236}">
                <a16:creationId xmlns:a16="http://schemas.microsoft.com/office/drawing/2014/main" id="{4DE9358A-78E0-4E25-9D80-D69DA04F2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76575"/>
            <a:ext cx="1381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000" b="1">
                <a:solidFill>
                  <a:srgbClr val="117C78"/>
                </a:solidFill>
                <a:latin typeface="Arial"/>
                <a:ea typeface="Arial"/>
                <a:cs typeface="Arial"/>
              </a:defRPr>
            </a:defPPr>
            <a:lvl1pPr algn="l">
              <a:defRPr sz="3000" b="1">
                <a:solidFill>
                  <a:srgbClr val="117C78"/>
                </a:solidFill>
                <a:latin typeface="Arial"/>
                <a:ea typeface="Arial"/>
                <a:cs typeface="Arial"/>
              </a:defRPr>
            </a:lvl1pPr>
            <a:lvl2pPr algn="l">
              <a:defRPr sz="3000" b="1">
                <a:solidFill>
                  <a:srgbClr val="117C78"/>
                </a:solidFill>
                <a:latin typeface="Arial"/>
                <a:ea typeface="Arial"/>
                <a:cs typeface="Arial"/>
              </a:defRPr>
            </a:lvl2pPr>
            <a:lvl3pPr algn="l">
              <a:defRPr sz="3000" b="1">
                <a:solidFill>
                  <a:srgbClr val="117C78"/>
                </a:solidFill>
                <a:latin typeface="Arial"/>
                <a:ea typeface="Arial"/>
                <a:cs typeface="Arial"/>
              </a:defRPr>
            </a:lvl3pPr>
            <a:lvl4pPr algn="l">
              <a:defRPr sz="3000" b="1">
                <a:solidFill>
                  <a:srgbClr val="117C78"/>
                </a:solidFill>
                <a:latin typeface="Arial"/>
                <a:ea typeface="Arial"/>
                <a:cs typeface="Arial"/>
              </a:defRPr>
            </a:lvl4pPr>
            <a:lvl5pPr algn="l">
              <a:defRPr sz="3000" b="1">
                <a:solidFill>
                  <a:srgbClr val="117C78"/>
                </a:solidFill>
                <a:latin typeface="Arial"/>
                <a:ea typeface="Arial"/>
                <a:cs typeface="Arial"/>
              </a:defRPr>
            </a:lvl5pPr>
            <a:lvl6pPr algn="l">
              <a:defRPr sz="3000" b="1">
                <a:solidFill>
                  <a:srgbClr val="117C78"/>
                </a:solidFill>
                <a:latin typeface="Arial"/>
                <a:ea typeface="Arial"/>
                <a:cs typeface="Arial"/>
              </a:defRPr>
            </a:lvl6pPr>
            <a:lvl7pPr algn="l">
              <a:defRPr sz="3000" b="1">
                <a:solidFill>
                  <a:srgbClr val="117C78"/>
                </a:solidFill>
                <a:latin typeface="Arial"/>
                <a:ea typeface="Arial"/>
                <a:cs typeface="Arial"/>
              </a:defRPr>
            </a:lvl7pPr>
            <a:lvl8pPr algn="l">
              <a:defRPr sz="3000" b="1">
                <a:solidFill>
                  <a:srgbClr val="117C78"/>
                </a:solidFill>
                <a:latin typeface="Arial"/>
                <a:ea typeface="Arial"/>
                <a:cs typeface="Arial"/>
              </a:defRPr>
            </a:lvl8pPr>
            <a:lvl9pPr algn="l">
              <a:defRPr sz="3000" b="1">
                <a:solidFill>
                  <a:srgbClr val="117C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17C78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7C78"/>
                </a:solidFill>
                <a:latin typeface="Arial"/>
                <a:ea typeface="Arial"/>
                <a:cs typeface="Arial"/>
              </a:rPr>
              <a:t>18/18</a:t>
            </a:r>
          </a:p>
        </p:txBody>
      </p:sp>
      <p:sp>
        <p:nvSpPr>
          <p:cNvPr id="9" name="note-325-238">
            <a:extLst xmlns:a="http://schemas.openxmlformats.org/drawingml/2006/main">
              <a:ext uri="{FF2B5EF4-FFF2-40B4-BE49-F238E27FC236}">
                <a16:creationId xmlns:a16="http://schemas.microsoft.com/office/drawing/2014/main" id="{8200EC9B-7BA5-4C09-9054-663AA3398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095625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clean payroll-ledger periods match</a:t>
            </a:r>
          </a:p>
        </p:txBody>
      </p:sp>
      <p:sp>
        <p:nvSpPr>
          <p:cNvPr id="10" name="note-323-638">
            <a:extLst xmlns:a="http://schemas.openxmlformats.org/drawingml/2006/main">
              <a:ext uri="{FF2B5EF4-FFF2-40B4-BE49-F238E27FC236}">
                <a16:creationId xmlns:a16="http://schemas.microsoft.com/office/drawing/2014/main" id="{2979219E-59AA-456B-B6B3-CADAF7E59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076575"/>
            <a:ext cx="1381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00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defPPr>
            <a:lvl1pPr algn="l">
              <a:defRPr sz="300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lvl1pPr>
            <a:lvl2pPr algn="l">
              <a:defRPr sz="300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lvl2pPr>
            <a:lvl3pPr algn="l">
              <a:defRPr sz="300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lvl3pPr>
            <a:lvl4pPr algn="l">
              <a:defRPr sz="300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lvl4pPr>
            <a:lvl5pPr algn="l">
              <a:defRPr sz="300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lvl5pPr>
            <a:lvl6pPr algn="l">
              <a:defRPr sz="300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lvl6pPr>
            <a:lvl7pPr algn="l">
              <a:defRPr sz="300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lvl7pPr>
            <a:lvl8pPr algn="l">
              <a:defRPr sz="300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lvl8pPr>
            <a:lvl9pPr algn="l">
              <a:defRPr sz="300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4213D"/>
                </a:solidFill>
                <a:latin typeface="Arial"/>
                <a:ea typeface="Arial"/>
                <a:cs typeface="Arial"/>
              </a:rPr>
              <a:t>28</a:t>
            </a:r>
          </a:p>
        </p:txBody>
      </p:sp>
      <p:sp>
        <p:nvSpPr>
          <p:cNvPr id="11" name="note-325-798">
            <a:extLst xmlns:a="http://schemas.openxmlformats.org/drawingml/2006/main">
              <a:ext uri="{FF2B5EF4-FFF2-40B4-BE49-F238E27FC236}">
                <a16:creationId xmlns:a16="http://schemas.microsoft.com/office/drawing/2014/main" id="{3C2535E5-6183-467A-A737-4F4597130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095625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governed metric views return rows</a:t>
            </a:r>
          </a:p>
        </p:txBody>
      </p:sp>
      <p:sp>
        <p:nvSpPr>
          <p:cNvPr id="12" name="note-470-80">
            <a:extLst xmlns:a="http://schemas.openxmlformats.org/drawingml/2006/main">
              <a:ext uri="{FF2B5EF4-FFF2-40B4-BE49-F238E27FC236}">
                <a16:creationId xmlns:a16="http://schemas.microsoft.com/office/drawing/2014/main" id="{2EF5C7BE-76B6-4516-B62C-51798C08F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0"/>
            <a:ext cx="10287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D17B0F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D17B0F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D17B0F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D17B0F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D17B0F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D17B0F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D17B0F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D17B0F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D17B0F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D17B0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D17B0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D17B0F"/>
                </a:solidFill>
                <a:latin typeface="Arial"/>
                <a:ea typeface="Arial"/>
                <a:cs typeface="Arial"/>
              </a:rPr>
              <a:t>Raw gate: REVIEW REQUIRED. Four critical checks and seven warning checks report the supplied planted issues. Twenty-eight rows are quarantined; raw files remain intact. The DQ-C06 finding overlaps one post-exit row already reported by DQ-C05.</a:t>
            </a:r>
          </a:p>
        </p:txBody>
      </p:sp>
      <p:sp>
        <p:nvSpPr>
          <p:cNvPr id="13" name="note-570-80">
            <a:extLst xmlns:a="http://schemas.openxmlformats.org/drawingml/2006/main">
              <a:ext uri="{FF2B5EF4-FFF2-40B4-BE49-F238E27FC236}">
                <a16:creationId xmlns:a16="http://schemas.microsoft.com/office/drawing/2014/main" id="{888996EB-34D8-44C5-94FA-8E806F1CD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29250"/>
            <a:ext cx="1028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526179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526179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526179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526179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526179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526179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526179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526179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526179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5261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5261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179"/>
                </a:solidFill>
                <a:latin typeface="Arial"/>
                <a:ea typeface="Arial"/>
                <a:cs typeface="Arial"/>
              </a:rPr>
              <a:t>M28 forecast error is not measurable: actuals end in September and the forecast starts in October. The October headcount point estimate is 426.3 (80% range 417.5-435.1), not a validated accuracy claim.</a:t>
            </a:r>
          </a:p>
        </p:txBody>
      </p:sp>
    </p:spTree>
    <p:extLst>
      <p:ext uri="{BB962C8B-B14F-4D97-AF65-F5344CB8AC3E}">
        <p14:creationId xmlns:p14="http://schemas.microsoft.com/office/powerpoint/2010/main" val="42667948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C1DD5A0-EB59-462D-890D-C9C1CB639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79544"/>
          </a:bodyPr>
          <a:lstStyle xmlns:a="http://schemas.openxmlformats.org/drawingml/2006/main">
            <a:defPPr algn="l">
              <a:defRPr sz="300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defPPr>
            <a:lvl1pPr algn="l">
              <a:defRPr sz="300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lvl1pPr>
            <a:lvl2pPr algn="l">
              <a:defRPr sz="300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lvl2pPr>
            <a:lvl3pPr algn="l">
              <a:defRPr sz="300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lvl3pPr>
            <a:lvl4pPr algn="l">
              <a:defRPr sz="300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lvl4pPr>
            <a:lvl5pPr algn="l">
              <a:defRPr sz="300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lvl5pPr>
            <a:lvl6pPr algn="l">
              <a:defRPr sz="300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lvl6pPr>
            <a:lvl7pPr algn="l">
              <a:defRPr sz="300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lvl7pPr>
            <a:lvl8pPr algn="l">
              <a:defRPr sz="300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lvl8pPr>
            <a:lvl9pPr algn="l">
              <a:defRPr sz="300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4213D"/>
                </a:solidFill>
                <a:latin typeface="Arial"/>
                <a:ea typeface="Arial"/>
                <a:cs typeface="Arial"/>
              </a:rPr>
              <a:t>October decisions: contain cost, improve attendance, collect overdue cash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3C6E4763-226B-48D4-894F-5095F9997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04900"/>
            <a:ext cx="10744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>
                <a:solidFill>
                  <a:srgbClr val="526179"/>
                </a:solidFill>
                <a:latin typeface="Arial"/>
                <a:ea typeface="Arial"/>
                <a:cs typeface="Arial"/>
              </a:defRPr>
            </a:defPPr>
            <a:lvl1pPr algn="l">
              <a:defRPr sz="1500">
                <a:solidFill>
                  <a:srgbClr val="526179"/>
                </a:solidFill>
                <a:latin typeface="Arial"/>
                <a:ea typeface="Arial"/>
                <a:cs typeface="Arial"/>
              </a:defRPr>
            </a:lvl1pPr>
            <a:lvl2pPr algn="l">
              <a:defRPr sz="1500">
                <a:solidFill>
                  <a:srgbClr val="526179"/>
                </a:solidFill>
                <a:latin typeface="Arial"/>
                <a:ea typeface="Arial"/>
                <a:cs typeface="Arial"/>
              </a:defRPr>
            </a:lvl2pPr>
            <a:lvl3pPr algn="l">
              <a:defRPr sz="1500">
                <a:solidFill>
                  <a:srgbClr val="526179"/>
                </a:solidFill>
                <a:latin typeface="Arial"/>
                <a:ea typeface="Arial"/>
                <a:cs typeface="Arial"/>
              </a:defRPr>
            </a:lvl3pPr>
            <a:lvl4pPr algn="l">
              <a:defRPr sz="1500">
                <a:solidFill>
                  <a:srgbClr val="526179"/>
                </a:solidFill>
                <a:latin typeface="Arial"/>
                <a:ea typeface="Arial"/>
                <a:cs typeface="Arial"/>
              </a:defRPr>
            </a:lvl4pPr>
            <a:lvl5pPr algn="l">
              <a:defRPr sz="1500">
                <a:solidFill>
                  <a:srgbClr val="526179"/>
                </a:solidFill>
                <a:latin typeface="Arial"/>
                <a:ea typeface="Arial"/>
                <a:cs typeface="Arial"/>
              </a:defRPr>
            </a:lvl5pPr>
            <a:lvl6pPr algn="l">
              <a:defRPr sz="1500">
                <a:solidFill>
                  <a:srgbClr val="526179"/>
                </a:solidFill>
                <a:latin typeface="Arial"/>
                <a:ea typeface="Arial"/>
                <a:cs typeface="Arial"/>
              </a:defRPr>
            </a:lvl6pPr>
            <a:lvl7pPr algn="l">
              <a:defRPr sz="1500">
                <a:solidFill>
                  <a:srgbClr val="526179"/>
                </a:solidFill>
                <a:latin typeface="Arial"/>
                <a:ea typeface="Arial"/>
                <a:cs typeface="Arial"/>
              </a:defRPr>
            </a:lvl7pPr>
            <a:lvl8pPr algn="l">
              <a:defRPr sz="1500">
                <a:solidFill>
                  <a:srgbClr val="526179"/>
                </a:solidFill>
                <a:latin typeface="Arial"/>
                <a:ea typeface="Arial"/>
                <a:cs typeface="Arial"/>
              </a:defRPr>
            </a:lvl8pPr>
            <a:lvl9pPr algn="l">
              <a:defRPr sz="1500">
                <a:solidFill>
                  <a:srgbClr val="5261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>
                <a:solidFill>
                  <a:srgbClr val="526179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26179"/>
                </a:solidFill>
                <a:latin typeface="Arial"/>
                <a:ea typeface="Arial"/>
                <a:cs typeface="Arial"/>
              </a:rPr>
              <a:t>Three actions for the next operating cycle</a:t>
            </a:r>
          </a:p>
        </p:txBody>
      </p:sp>
      <p:sp>
        <p:nvSpPr>
          <p:cNvPr id="3" name="data-cutoff-footer">
            <a:extLst xmlns:a="http://schemas.openxmlformats.org/drawingml/2006/main">
              <a:ext uri="{FF2B5EF4-FFF2-40B4-BE49-F238E27FC236}">
                <a16:creationId xmlns:a16="http://schemas.microsoft.com/office/drawing/2014/main" id="{542394E6-50C3-42F7-92F2-6D19CB882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>
                <a:solidFill>
                  <a:srgbClr val="526179"/>
                </a:solidFill>
                <a:latin typeface="Arial"/>
                <a:ea typeface="Arial"/>
                <a:cs typeface="Arial"/>
              </a:defRPr>
            </a:defPPr>
            <a:lvl1pPr algn="l">
              <a:defRPr sz="1125">
                <a:solidFill>
                  <a:srgbClr val="526179"/>
                </a:solidFill>
                <a:latin typeface="Arial"/>
                <a:ea typeface="Arial"/>
                <a:cs typeface="Arial"/>
              </a:defRPr>
            </a:lvl1pPr>
            <a:lvl2pPr algn="l">
              <a:defRPr sz="1125">
                <a:solidFill>
                  <a:srgbClr val="526179"/>
                </a:solidFill>
                <a:latin typeface="Arial"/>
                <a:ea typeface="Arial"/>
                <a:cs typeface="Arial"/>
              </a:defRPr>
            </a:lvl2pPr>
            <a:lvl3pPr algn="l">
              <a:defRPr sz="1125">
                <a:solidFill>
                  <a:srgbClr val="526179"/>
                </a:solidFill>
                <a:latin typeface="Arial"/>
                <a:ea typeface="Arial"/>
                <a:cs typeface="Arial"/>
              </a:defRPr>
            </a:lvl3pPr>
            <a:lvl4pPr algn="l">
              <a:defRPr sz="1125">
                <a:solidFill>
                  <a:srgbClr val="526179"/>
                </a:solidFill>
                <a:latin typeface="Arial"/>
                <a:ea typeface="Arial"/>
                <a:cs typeface="Arial"/>
              </a:defRPr>
            </a:lvl4pPr>
            <a:lvl5pPr algn="l">
              <a:defRPr sz="1125">
                <a:solidFill>
                  <a:srgbClr val="526179"/>
                </a:solidFill>
                <a:latin typeface="Arial"/>
                <a:ea typeface="Arial"/>
                <a:cs typeface="Arial"/>
              </a:defRPr>
            </a:lvl5pPr>
            <a:lvl6pPr algn="l">
              <a:defRPr sz="1125">
                <a:solidFill>
                  <a:srgbClr val="526179"/>
                </a:solidFill>
                <a:latin typeface="Arial"/>
                <a:ea typeface="Arial"/>
                <a:cs typeface="Arial"/>
              </a:defRPr>
            </a:lvl6pPr>
            <a:lvl7pPr algn="l">
              <a:defRPr sz="1125">
                <a:solidFill>
                  <a:srgbClr val="526179"/>
                </a:solidFill>
                <a:latin typeface="Arial"/>
                <a:ea typeface="Arial"/>
                <a:cs typeface="Arial"/>
              </a:defRPr>
            </a:lvl7pPr>
            <a:lvl8pPr algn="l">
              <a:defRPr sz="1125">
                <a:solidFill>
                  <a:srgbClr val="526179"/>
                </a:solidFill>
                <a:latin typeface="Arial"/>
                <a:ea typeface="Arial"/>
                <a:cs typeface="Arial"/>
              </a:defRPr>
            </a:lvl8pPr>
            <a:lvl9pPr algn="l">
              <a:defRPr sz="1125">
                <a:solidFill>
                  <a:srgbClr val="5261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>
                <a:solidFill>
                  <a:srgbClr val="526179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26179"/>
                </a:solidFill>
                <a:latin typeface="Arial"/>
                <a:ea typeface="Arial"/>
                <a:cs typeface="Arial"/>
              </a:rPr>
              <a:t>Fictional Zenith Nova training data  |  Source cutoff: 30 Sep 2026</a:t>
            </a:r>
          </a:p>
        </p:txBody>
      </p:sp>
      <p:sp>
        <p:nvSpPr>
          <p:cNvPr id="4" name="note-190-84">
            <a:extLst xmlns:a="http://schemas.openxmlformats.org/drawingml/2006/main">
              <a:ext uri="{FF2B5EF4-FFF2-40B4-BE49-F238E27FC236}">
                <a16:creationId xmlns:a16="http://schemas.microsoft.com/office/drawing/2014/main" id="{D7CCD21D-0985-4233-A245-F3AFAD71C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09750"/>
            <a:ext cx="7048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17C78"/>
                </a:solidFill>
                <a:latin typeface="Arial"/>
                <a:ea typeface="Arial"/>
                <a:cs typeface="Arial"/>
              </a:defRPr>
            </a:defPPr>
            <a:lvl1pPr algn="l">
              <a:defRPr sz="2550" b="1">
                <a:solidFill>
                  <a:srgbClr val="117C78"/>
                </a:solidFill>
                <a:latin typeface="Arial"/>
                <a:ea typeface="Arial"/>
                <a:cs typeface="Arial"/>
              </a:defRPr>
            </a:lvl1pPr>
            <a:lvl2pPr algn="l">
              <a:defRPr sz="2550" b="1">
                <a:solidFill>
                  <a:srgbClr val="117C78"/>
                </a:solidFill>
                <a:latin typeface="Arial"/>
                <a:ea typeface="Arial"/>
                <a:cs typeface="Arial"/>
              </a:defRPr>
            </a:lvl2pPr>
            <a:lvl3pPr algn="l">
              <a:defRPr sz="2550" b="1">
                <a:solidFill>
                  <a:srgbClr val="117C78"/>
                </a:solidFill>
                <a:latin typeface="Arial"/>
                <a:ea typeface="Arial"/>
                <a:cs typeface="Arial"/>
              </a:defRPr>
            </a:lvl3pPr>
            <a:lvl4pPr algn="l">
              <a:defRPr sz="2550" b="1">
                <a:solidFill>
                  <a:srgbClr val="117C78"/>
                </a:solidFill>
                <a:latin typeface="Arial"/>
                <a:ea typeface="Arial"/>
                <a:cs typeface="Arial"/>
              </a:defRPr>
            </a:lvl4pPr>
            <a:lvl5pPr algn="l">
              <a:defRPr sz="2550" b="1">
                <a:solidFill>
                  <a:srgbClr val="117C78"/>
                </a:solidFill>
                <a:latin typeface="Arial"/>
                <a:ea typeface="Arial"/>
                <a:cs typeface="Arial"/>
              </a:defRPr>
            </a:lvl5pPr>
            <a:lvl6pPr algn="l">
              <a:defRPr sz="2550" b="1">
                <a:solidFill>
                  <a:srgbClr val="117C78"/>
                </a:solidFill>
                <a:latin typeface="Arial"/>
                <a:ea typeface="Arial"/>
                <a:cs typeface="Arial"/>
              </a:defRPr>
            </a:lvl6pPr>
            <a:lvl7pPr algn="l">
              <a:defRPr sz="2550" b="1">
                <a:solidFill>
                  <a:srgbClr val="117C78"/>
                </a:solidFill>
                <a:latin typeface="Arial"/>
                <a:ea typeface="Arial"/>
                <a:cs typeface="Arial"/>
              </a:defRPr>
            </a:lvl7pPr>
            <a:lvl8pPr algn="l">
              <a:defRPr sz="2550" b="1">
                <a:solidFill>
                  <a:srgbClr val="117C78"/>
                </a:solidFill>
                <a:latin typeface="Arial"/>
                <a:ea typeface="Arial"/>
                <a:cs typeface="Arial"/>
              </a:defRPr>
            </a:lvl8pPr>
            <a:lvl9pPr algn="l">
              <a:defRPr sz="2550" b="1">
                <a:solidFill>
                  <a:srgbClr val="117C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17C78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17C78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note-190-174">
            <a:extLst xmlns:a="http://schemas.openxmlformats.org/drawingml/2006/main">
              <a:ext uri="{FF2B5EF4-FFF2-40B4-BE49-F238E27FC236}">
                <a16:creationId xmlns:a16="http://schemas.microsoft.com/office/drawing/2014/main" id="{E170FEED-0655-4C9B-8920-E7629BA64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1809750"/>
            <a:ext cx="895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4213D"/>
                </a:solidFill>
                <a:latin typeface="Arial"/>
                <a:ea typeface="Arial"/>
                <a:cs typeface="Arial"/>
              </a:rPr>
              <a:t>Review D01 staffing and overtime</a:t>
            </a:r>
          </a:p>
        </p:txBody>
      </p:sp>
      <p:sp>
        <p:nvSpPr>
          <p:cNvPr id="6" name="note-238-174">
            <a:extLst xmlns:a="http://schemas.openxmlformats.org/drawingml/2006/main">
              <a:ext uri="{FF2B5EF4-FFF2-40B4-BE49-F238E27FC236}">
                <a16:creationId xmlns:a16="http://schemas.microsoft.com/office/drawing/2014/main" id="{8BBAE090-9B63-46E0-80E8-F988AEE03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266950"/>
            <a:ext cx="9239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526179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526179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526179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526179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526179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526179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526179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526179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526179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5261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526179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179"/>
                </a:solidFill>
                <a:latin typeface="Arial"/>
                <a:ea typeface="Arial"/>
                <a:cs typeface="Arial"/>
              </a:rPr>
              <a:t>D01 was INR 214,404 (1.03%) over its September payroll budget. Validate open roles and overtime before the next close.</a:t>
            </a:r>
          </a:p>
        </p:txBody>
      </p:sp>
      <p:sp>
        <p:nvSpPr>
          <p:cNvPr id="7" name="note-332-84">
            <a:extLst xmlns:a="http://schemas.openxmlformats.org/drawingml/2006/main">
              <a:ext uri="{FF2B5EF4-FFF2-40B4-BE49-F238E27FC236}">
                <a16:creationId xmlns:a16="http://schemas.microsoft.com/office/drawing/2014/main" id="{35871F3A-D7E8-4F84-8F04-514188D0A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62300"/>
            <a:ext cx="7048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17C78"/>
                </a:solidFill>
                <a:latin typeface="Arial"/>
                <a:ea typeface="Arial"/>
                <a:cs typeface="Arial"/>
              </a:defRPr>
            </a:defPPr>
            <a:lvl1pPr algn="l">
              <a:defRPr sz="2550" b="1">
                <a:solidFill>
                  <a:srgbClr val="117C78"/>
                </a:solidFill>
                <a:latin typeface="Arial"/>
                <a:ea typeface="Arial"/>
                <a:cs typeface="Arial"/>
              </a:defRPr>
            </a:lvl1pPr>
            <a:lvl2pPr algn="l">
              <a:defRPr sz="2550" b="1">
                <a:solidFill>
                  <a:srgbClr val="117C78"/>
                </a:solidFill>
                <a:latin typeface="Arial"/>
                <a:ea typeface="Arial"/>
                <a:cs typeface="Arial"/>
              </a:defRPr>
            </a:lvl2pPr>
            <a:lvl3pPr algn="l">
              <a:defRPr sz="2550" b="1">
                <a:solidFill>
                  <a:srgbClr val="117C78"/>
                </a:solidFill>
                <a:latin typeface="Arial"/>
                <a:ea typeface="Arial"/>
                <a:cs typeface="Arial"/>
              </a:defRPr>
            </a:lvl3pPr>
            <a:lvl4pPr algn="l">
              <a:defRPr sz="2550" b="1">
                <a:solidFill>
                  <a:srgbClr val="117C78"/>
                </a:solidFill>
                <a:latin typeface="Arial"/>
                <a:ea typeface="Arial"/>
                <a:cs typeface="Arial"/>
              </a:defRPr>
            </a:lvl4pPr>
            <a:lvl5pPr algn="l">
              <a:defRPr sz="2550" b="1">
                <a:solidFill>
                  <a:srgbClr val="117C78"/>
                </a:solidFill>
                <a:latin typeface="Arial"/>
                <a:ea typeface="Arial"/>
                <a:cs typeface="Arial"/>
              </a:defRPr>
            </a:lvl5pPr>
            <a:lvl6pPr algn="l">
              <a:defRPr sz="2550" b="1">
                <a:solidFill>
                  <a:srgbClr val="117C78"/>
                </a:solidFill>
                <a:latin typeface="Arial"/>
                <a:ea typeface="Arial"/>
                <a:cs typeface="Arial"/>
              </a:defRPr>
            </a:lvl6pPr>
            <a:lvl7pPr algn="l">
              <a:defRPr sz="2550" b="1">
                <a:solidFill>
                  <a:srgbClr val="117C78"/>
                </a:solidFill>
                <a:latin typeface="Arial"/>
                <a:ea typeface="Arial"/>
                <a:cs typeface="Arial"/>
              </a:defRPr>
            </a:lvl7pPr>
            <a:lvl8pPr algn="l">
              <a:defRPr sz="2550" b="1">
                <a:solidFill>
                  <a:srgbClr val="117C78"/>
                </a:solidFill>
                <a:latin typeface="Arial"/>
                <a:ea typeface="Arial"/>
                <a:cs typeface="Arial"/>
              </a:defRPr>
            </a:lvl8pPr>
            <a:lvl9pPr algn="l">
              <a:defRPr sz="2550" b="1">
                <a:solidFill>
                  <a:srgbClr val="117C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17C78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17C7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note-332-174">
            <a:extLst xmlns:a="http://schemas.openxmlformats.org/drawingml/2006/main">
              <a:ext uri="{FF2B5EF4-FFF2-40B4-BE49-F238E27FC236}">
                <a16:creationId xmlns:a16="http://schemas.microsoft.com/office/drawing/2014/main" id="{D14E1DD7-A26A-45CB-A4FA-356907B17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162300"/>
            <a:ext cx="895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4213D"/>
                </a:solidFill>
                <a:latin typeface="Arial"/>
                <a:ea typeface="Arial"/>
                <a:cs typeface="Arial"/>
              </a:rPr>
              <a:t>Work with D08 on attendance</a:t>
            </a:r>
          </a:p>
        </p:txBody>
      </p:sp>
      <p:sp>
        <p:nvSpPr>
          <p:cNvPr id="9" name="note-380-174">
            <a:extLst xmlns:a="http://schemas.openxmlformats.org/drawingml/2006/main">
              <a:ext uri="{FF2B5EF4-FFF2-40B4-BE49-F238E27FC236}">
                <a16:creationId xmlns:a16="http://schemas.microsoft.com/office/drawing/2014/main" id="{165149CF-68C4-4125-A185-2C45ECEF3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619500"/>
            <a:ext cx="9239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526179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526179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526179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526179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526179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526179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526179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526179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526179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5261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526179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179"/>
                </a:solidFill>
                <a:latin typeface="Arial"/>
                <a:ea typeface="Arial"/>
                <a:cs typeface="Arial"/>
              </a:rPr>
              <a:t>D08 recorded 88.9% against a 94% target, a 5.1-point gap. Review coverage and leave patterns with the team.</a:t>
            </a:r>
          </a:p>
        </p:txBody>
      </p:sp>
      <p:sp>
        <p:nvSpPr>
          <p:cNvPr id="10" name="note-474-84">
            <a:extLst xmlns:a="http://schemas.openxmlformats.org/drawingml/2006/main">
              <a:ext uri="{FF2B5EF4-FFF2-40B4-BE49-F238E27FC236}">
                <a16:creationId xmlns:a16="http://schemas.microsoft.com/office/drawing/2014/main" id="{621EECDC-AB01-4845-8F79-AE85A8EF0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14850"/>
            <a:ext cx="7048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17C78"/>
                </a:solidFill>
                <a:latin typeface="Arial"/>
                <a:ea typeface="Arial"/>
                <a:cs typeface="Arial"/>
              </a:defRPr>
            </a:defPPr>
            <a:lvl1pPr algn="l">
              <a:defRPr sz="2550" b="1">
                <a:solidFill>
                  <a:srgbClr val="117C78"/>
                </a:solidFill>
                <a:latin typeface="Arial"/>
                <a:ea typeface="Arial"/>
                <a:cs typeface="Arial"/>
              </a:defRPr>
            </a:lvl1pPr>
            <a:lvl2pPr algn="l">
              <a:defRPr sz="2550" b="1">
                <a:solidFill>
                  <a:srgbClr val="117C78"/>
                </a:solidFill>
                <a:latin typeface="Arial"/>
                <a:ea typeface="Arial"/>
                <a:cs typeface="Arial"/>
              </a:defRPr>
            </a:lvl2pPr>
            <a:lvl3pPr algn="l">
              <a:defRPr sz="2550" b="1">
                <a:solidFill>
                  <a:srgbClr val="117C78"/>
                </a:solidFill>
                <a:latin typeface="Arial"/>
                <a:ea typeface="Arial"/>
                <a:cs typeface="Arial"/>
              </a:defRPr>
            </a:lvl3pPr>
            <a:lvl4pPr algn="l">
              <a:defRPr sz="2550" b="1">
                <a:solidFill>
                  <a:srgbClr val="117C78"/>
                </a:solidFill>
                <a:latin typeface="Arial"/>
                <a:ea typeface="Arial"/>
                <a:cs typeface="Arial"/>
              </a:defRPr>
            </a:lvl4pPr>
            <a:lvl5pPr algn="l">
              <a:defRPr sz="2550" b="1">
                <a:solidFill>
                  <a:srgbClr val="117C78"/>
                </a:solidFill>
                <a:latin typeface="Arial"/>
                <a:ea typeface="Arial"/>
                <a:cs typeface="Arial"/>
              </a:defRPr>
            </a:lvl5pPr>
            <a:lvl6pPr algn="l">
              <a:defRPr sz="2550" b="1">
                <a:solidFill>
                  <a:srgbClr val="117C78"/>
                </a:solidFill>
                <a:latin typeface="Arial"/>
                <a:ea typeface="Arial"/>
                <a:cs typeface="Arial"/>
              </a:defRPr>
            </a:lvl6pPr>
            <a:lvl7pPr algn="l">
              <a:defRPr sz="2550" b="1">
                <a:solidFill>
                  <a:srgbClr val="117C78"/>
                </a:solidFill>
                <a:latin typeface="Arial"/>
                <a:ea typeface="Arial"/>
                <a:cs typeface="Arial"/>
              </a:defRPr>
            </a:lvl7pPr>
            <a:lvl8pPr algn="l">
              <a:defRPr sz="2550" b="1">
                <a:solidFill>
                  <a:srgbClr val="117C78"/>
                </a:solidFill>
                <a:latin typeface="Arial"/>
                <a:ea typeface="Arial"/>
                <a:cs typeface="Arial"/>
              </a:defRPr>
            </a:lvl8pPr>
            <a:lvl9pPr algn="l">
              <a:defRPr sz="2550" b="1">
                <a:solidFill>
                  <a:srgbClr val="117C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17C78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17C7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1" name="note-474-174">
            <a:extLst xmlns:a="http://schemas.openxmlformats.org/drawingml/2006/main">
              <a:ext uri="{FF2B5EF4-FFF2-40B4-BE49-F238E27FC236}">
                <a16:creationId xmlns:a16="http://schemas.microsoft.com/office/drawing/2014/main" id="{C3B4CD68-07DA-4D2B-A602-CA46B1664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514850"/>
            <a:ext cx="895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4213D"/>
                </a:solidFill>
                <a:latin typeface="Arial"/>
                <a:ea typeface="Arial"/>
                <a:cs typeface="Arial"/>
              </a:rPr>
              <a:t>Prioritize older receivables</a:t>
            </a:r>
          </a:p>
        </p:txBody>
      </p:sp>
      <p:sp>
        <p:nvSpPr>
          <p:cNvPr id="12" name="note-522-174">
            <a:extLst xmlns:a="http://schemas.openxmlformats.org/drawingml/2006/main">
              <a:ext uri="{FF2B5EF4-FFF2-40B4-BE49-F238E27FC236}">
                <a16:creationId xmlns:a16="http://schemas.microsoft.com/office/drawing/2014/main" id="{DB9303A9-6570-471C-8816-040AEB14C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972050"/>
            <a:ext cx="9239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526179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526179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526179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526179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526179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526179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526179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526179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526179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5261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526179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179"/>
                </a:solidFill>
                <a:latin typeface="Arial"/>
                <a:ea typeface="Arial"/>
                <a:cs typeface="Arial"/>
              </a:rPr>
              <a:t>INR 27.11m was past due at 30 September, including INR 3.04m over 90 days. Start with the oldest balances and confirm collection ownership.</a:t>
            </a:r>
          </a:p>
        </p:txBody>
      </p:sp>
      <p:sp>
        <p:nvSpPr>
          <p:cNvPr id="13" name="note-617-84">
            <a:extLst xmlns:a="http://schemas.openxmlformats.org/drawingml/2006/main">
              <a:ext uri="{FF2B5EF4-FFF2-40B4-BE49-F238E27FC236}">
                <a16:creationId xmlns:a16="http://schemas.microsoft.com/office/drawing/2014/main" id="{50FCE33D-0CED-4842-B4CA-99E71A4CE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876925"/>
            <a:ext cx="10334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526179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526179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526179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526179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526179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526179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526179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526179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526179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5261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2617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179"/>
                </a:solidFill>
                <a:latin typeface="Arial"/>
                <a:ea typeface="Arial"/>
                <a:cs typeface="Arial"/>
              </a:rPr>
              <a:t>Before a public release, an owner must review the raw DQ findings and configure production login. Forecast accuracy remains unmeasured until actuals overlap the forecast horizon.</a:t>
            </a:r>
          </a:p>
        </p:txBody>
      </p:sp>
    </p:spTree>
    <p:extLst>
      <p:ext uri="{BB962C8B-B14F-4D97-AF65-F5344CB8AC3E}">
        <p14:creationId xmlns:p14="http://schemas.microsoft.com/office/powerpoint/2010/main" val="166442422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2026-10-19T08:49:06.3310000Z</dcterms:created>
  <dcterms:modified xsi:type="dcterms:W3CDTF">2026-10-19T08:49:06.3310000Z</dcterms:modified>
</coreProperties>
</file>